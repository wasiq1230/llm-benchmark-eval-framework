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Weight</c:v>
                </c:pt>
              </c:strCache>
            </c:strRef>
          </c:tx>
          <c:spPr>
            <a:solidFill>
              <a:srgbClr val="3A6E8F"/>
            </a:solidFill>
            <a:effectLst/>
          </c:spPr>
          <c:invertIfNegative val="0"/>
          <c:dLbls>
            <c:numFmt formatCode="0&quot;%&quot;" sourceLinked="0"/>
            <c:txPr>
              <a:bodyPr/>
              <a:lstStyle/>
              <a:p>
                <a:pPr>
                  <a:defRPr b="0" i="0" strike="noStrike" sz="1200" u="none">
                    <a:solidFill>
                      <a:srgbClr val="12181A"/>
                    </a:solidFill>
                    <a:latin typeface="Arial"/>
                  </a:defRPr>
                </a:pPr>
              </a:p>
            </c:txPr>
            <c:showLegendKey val="0"/>
            <c:showVal val="1"/>
            <c:showCatName val="0"/>
            <c:showSerName val="0"/>
            <c:showPercent val="0"/>
            <c:showBubbleSize val="0"/>
            <c:showLeaderLines val="0"/>
          </c:dLbls>
          <c:dPt>
            <c:idx val="0"/>
            <c:invertIfNegative val="0"/>
            <c:bubble3D val="0"/>
            <c:spPr>
              <a:solidFill>
                <a:srgbClr val="3A6E8F"/>
              </a:solidFill>
              <a:effectLst/>
            </c:spPr>
          </c:dPt>
          <c:dPt>
            <c:idx val="1"/>
            <c:invertIfNegative val="0"/>
            <c:bubble3D val="0"/>
            <c:spPr>
              <a:solidFill>
                <a:srgbClr val="0B6E4F"/>
              </a:solidFill>
              <a:effectLst/>
            </c:spPr>
          </c:dPt>
          <c:dPt>
            <c:idx val="2"/>
            <c:invertIfNegative val="0"/>
            <c:bubble3D val="0"/>
            <c:spPr>
              <a:solidFill>
                <a:srgbClr val="B8830C"/>
              </a:solidFill>
              <a:effectLst/>
            </c:spPr>
          </c:dPt>
          <c:dPt>
            <c:idx val="3"/>
            <c:invertIfNegative val="0"/>
            <c:bubble3D val="0"/>
            <c:spPr>
              <a:solidFill>
                <a:srgbClr val="6B7671"/>
              </a:solidFill>
              <a:effectLst/>
            </c:spPr>
          </c:dPt>
          <c:cat>
            <c:multiLvlStrRef>
              <c:f>Sheet1!$A$2:$A$5</c:f>
              <c:multiLvlStrCache>
                <c:ptCount val="4"/>
                <c:lvl>
                  <c:pt idx="0">
                    <c:v>Accuracy</c:v>
                  </c:pt>
                  <c:pt idx="1">
                    <c:v>Cost</c:v>
                  </c:pt>
                  <c:pt idx="2">
                    <c:v>Latency</c:v>
                  </c:pt>
                  <c:pt idx="3">
                    <c:v>Integration</c:v>
                  </c:pt>
                </c:lvl>
              </c:multiLvlStrCache>
            </c:multiLvlStrRef>
          </c:cat>
          <c:val>
            <c:numRef>
              <c:f>Sheet1!$B$2:$B$5</c:f>
              <c:numCache>
                <c:formatCode>General</c:formatCode>
                <c:ptCount val="4"/>
                <c:pt idx="0">
                  <c:v>40</c:v>
                </c:pt>
                <c:pt idx="1">
                  <c:v>25</c:v>
                </c:pt>
                <c:pt idx="2">
                  <c:v>20</c:v>
                </c:pt>
                <c:pt idx="3">
                  <c:v>15</c:v>
                </c:pt>
              </c:numCache>
            </c:numRef>
          </c:val>
        </c:ser>
        <c:dLbls>
          <c:numFmt formatCode="0&quot;%&quot;" sourceLinked="0"/>
          <c:txPr>
            <a:bodyPr/>
            <a:lstStyle/>
            <a:p>
              <a:pPr>
                <a:defRPr b="0" i="0" strike="noStrike" sz="1200" u="none">
                  <a:solidFill>
                    <a:srgbClr val="12181A"/>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2181A"/>
                </a:solidFill>
                <a:latin typeface="Arial"/>
              </a:defRPr>
            </a:pPr>
            <a:endParaRPr lang="en-US"/>
          </a:p>
        </c:txPr>
        <c:crossAx val="2094734552"/>
        <c:crosses val="autoZero"/>
        <c:auto val="1"/>
        <c:lblAlgn val="ctr"/>
        <c:noMultiLvlLbl val="1"/>
      </c:catAx>
      <c:valAx>
        <c:axId val="2094734552"/>
        <c:scaling>
          <c:orientation val="minMax"/>
          <c:max val="50"/>
        </c:scaling>
        <c:delete val="0"/>
        <c:axPos val="b"/>
        <c:majorGridlines>
          <c:spPr>
            <a:ln w="6350" cap="flat">
              <a:solidFill>
                <a:srgbClr val="E4E8E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671"/>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question, not on the vendors. The audience is an operations lead, not an engineer.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volume number out loud. It is what makes cost per call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schema, do not read it. The point is that the output is machine-readable and customer-facing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Urdu message out loud. It lands better than describing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where the method earns its keep. Do not rush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anyone challenges the result, this is the slide you go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weights are the softest part of any scorecard. Owning that is more persuasive than defending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apologise for this slide. Saying it plainly is the reason the rest of the deck is believable.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interviewers remember. Pick one and tell the story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the commission: any real engagement goes through SafeX, and I say so during the call rather than after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two items that are about rigour, not polish.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Stop here and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81A"/>
        </a:solidFill>
      </p:bgPr>
    </p:bg>
    <p:spTree>
      <p:nvGrpSpPr>
        <p:cNvPr id="1" name=""/>
        <p:cNvGrpSpPr/>
        <p:nvPr/>
      </p:nvGrpSpPr>
      <p:grpSpPr>
        <a:xfrm>
          <a:off x="0" y="0"/>
          <a:ext cx="0" cy="0"/>
          <a:chOff x="0" y="0"/>
          <a:chExt cx="0" cy="0"/>
        </a:xfrm>
      </p:grpSpPr>
      <p:sp>
        <p:nvSpPr>
          <p:cNvPr id="2" name="Text 0"/>
          <p:cNvSpPr/>
          <p:nvPr/>
        </p:nvSpPr>
        <p:spPr>
          <a:xfrm>
            <a:off x="777240" y="822960"/>
            <a:ext cx="10607040" cy="274320"/>
          </a:xfrm>
          <a:prstGeom prst="rect">
            <a:avLst/>
          </a:prstGeom>
          <a:noFill/>
          <a:ln/>
        </p:spPr>
        <p:txBody>
          <a:bodyPr wrap="square" lIns="0" tIns="0" rIns="0" bIns="0" rtlCol="0" anchor="ctr"/>
          <a:lstStyle/>
          <a:p>
            <a:pPr indent="0" marL="0">
              <a:buNone/>
            </a:pPr>
            <a:r>
              <a:rPr lang="en-US" sz="1000" dirty="0">
                <a:solidFill>
                  <a:srgbClr val="8FA096"/>
                </a:solidFill>
                <a:latin typeface="Courier New" pitchFamily="34" charset="0"/>
                <a:ea typeface="Courier New" pitchFamily="34" charset="-122"/>
                <a:cs typeface="Courier New" pitchFamily="34" charset="-120"/>
              </a:rPr>
              <a:t>S A F E X   S O L U T I O N S      W E E K   4      G R O U P   5 7</a:t>
            </a:r>
            <a:endParaRPr lang="en-US" sz="1000" dirty="0"/>
          </a:p>
        </p:txBody>
      </p:sp>
      <p:sp>
        <p:nvSpPr>
          <p:cNvPr id="3" name="Text 1"/>
          <p:cNvSpPr/>
          <p:nvPr/>
        </p:nvSpPr>
        <p:spPr>
          <a:xfrm>
            <a:off x="777240" y="1371600"/>
            <a:ext cx="8412480" cy="2651760"/>
          </a:xfrm>
          <a:prstGeom prst="rect">
            <a:avLst/>
          </a:prstGeom>
          <a:noFill/>
          <a:ln/>
        </p:spPr>
        <p:txBody>
          <a:bodyPr wrap="square" lIns="0" tIns="0" rIns="0" bIns="0" rtlCol="0" anchor="t"/>
          <a:lstStyle/>
          <a:p>
            <a:pPr indent="0" marL="0">
              <a:lnSpc>
                <a:spcPts val="4600"/>
              </a:lnSpc>
              <a:buNone/>
            </a:pPr>
            <a:r>
              <a:rPr lang="en-US" sz="4000" b="1" dirty="0">
                <a:solidFill>
                  <a:srgbClr val="FFFFFF"/>
                </a:solidFill>
                <a:latin typeface="Arial" pitchFamily="34" charset="0"/>
                <a:ea typeface="Arial" pitchFamily="34" charset="-122"/>
                <a:cs typeface="Arial" pitchFamily="34" charset="-120"/>
              </a:rPr>
              <a:t>Which language model</a:t>
            </a:r>
            <a:endParaRPr lang="en-US" sz="4000" dirty="0"/>
          </a:p>
          <a:p>
            <a:pPr indent="0" marL="0">
              <a:lnSpc>
                <a:spcPts val="4600"/>
              </a:lnSpc>
              <a:buNone/>
            </a:pPr>
            <a:r>
              <a:rPr lang="en-US" sz="4000" b="1" dirty="0">
                <a:solidFill>
                  <a:srgbClr val="FFFFFF"/>
                </a:solidFill>
                <a:latin typeface="Arial" pitchFamily="34" charset="0"/>
                <a:ea typeface="Arial" pitchFamily="34" charset="-122"/>
                <a:cs typeface="Arial" pitchFamily="34" charset="-120"/>
              </a:rPr>
              <a:t>should answer our</a:t>
            </a:r>
            <a:endParaRPr lang="en-US" sz="4000" dirty="0"/>
          </a:p>
          <a:p>
            <a:pPr indent="0" marL="0">
              <a:lnSpc>
                <a:spcPts val="4600"/>
              </a:lnSpc>
              <a:buNone/>
            </a:pPr>
            <a:r>
              <a:rPr lang="en-US" sz="4000" b="1" dirty="0">
                <a:solidFill>
                  <a:srgbClr val="FFFFFF"/>
                </a:solidFill>
                <a:latin typeface="Arial" pitchFamily="34" charset="0"/>
                <a:ea typeface="Arial" pitchFamily="34" charset="-122"/>
                <a:cs typeface="Arial" pitchFamily="34" charset="-120"/>
              </a:rPr>
              <a:t>customers first?</a:t>
            </a:r>
            <a:endParaRPr lang="en-US" sz="4000" dirty="0"/>
          </a:p>
        </p:txBody>
      </p:sp>
      <p:sp>
        <p:nvSpPr>
          <p:cNvPr id="4" name="Text 2"/>
          <p:cNvSpPr/>
          <p:nvPr/>
        </p:nvSpPr>
        <p:spPr>
          <a:xfrm>
            <a:off x="777240" y="4206240"/>
            <a:ext cx="7863840" cy="822960"/>
          </a:xfrm>
          <a:prstGeom prst="rect">
            <a:avLst/>
          </a:prstGeom>
          <a:noFill/>
          <a:ln/>
        </p:spPr>
        <p:txBody>
          <a:bodyPr wrap="square" lIns="0" tIns="0" rIns="0" bIns="0" rtlCol="0" anchor="ctr"/>
          <a:lstStyle/>
          <a:p>
            <a:pPr indent="0" marL="0">
              <a:buNone/>
            </a:pPr>
            <a:r>
              <a:rPr lang="en-US" sz="1400" dirty="0">
                <a:solidFill>
                  <a:srgbClr val="9DAEA3"/>
                </a:solidFill>
                <a:latin typeface="Arial" pitchFamily="34" charset="0"/>
                <a:ea typeface="Arial" pitchFamily="34" charset="-122"/>
                <a:cs typeface="Arial" pitchFamily="34" charset="-120"/>
              </a:rPr>
              <a:t>A vendor evaluation for a courier operation. Three providers, one prompt,</a:t>
            </a:r>
            <a:endParaRPr lang="en-US" sz="1400" dirty="0"/>
          </a:p>
          <a:p>
            <a:pPr indent="0" marL="0">
              <a:buNone/>
            </a:pPr>
            <a:r>
              <a:rPr lang="en-US" sz="1400" dirty="0">
                <a:solidFill>
                  <a:srgbClr val="9DAEA3"/>
                </a:solidFill>
                <a:latin typeface="Arial" pitchFamily="34" charset="0"/>
                <a:ea typeface="Arial" pitchFamily="34" charset="-122"/>
                <a:cs typeface="Arial" pitchFamily="34" charset="-120"/>
              </a:rPr>
              <a:t>thirty hand-labelled cases, one weighted recommendation.</a:t>
            </a:r>
            <a:endParaRPr lang="en-US" sz="1400" dirty="0"/>
          </a:p>
        </p:txBody>
      </p:sp>
      <p:sp>
        <p:nvSpPr>
          <p:cNvPr id="5" name="Text 3"/>
          <p:cNvSpPr/>
          <p:nvPr/>
        </p:nvSpPr>
        <p:spPr>
          <a:xfrm>
            <a:off x="777240" y="5852160"/>
            <a:ext cx="7315200" cy="274320"/>
          </a:xfrm>
          <a:prstGeom prst="rect">
            <a:avLst/>
          </a:prstGeom>
          <a:noFill/>
          <a:ln/>
        </p:spPr>
        <p:txBody>
          <a:bodyPr wrap="square" lIns="0" tIns="0" rIns="0" bIns="0" rtlCol="0" anchor="ctr"/>
          <a:lstStyle/>
          <a:p>
            <a:pPr indent="0" marL="0">
              <a:buNone/>
            </a:pPr>
            <a:r>
              <a:rPr lang="en-US" sz="1000" dirty="0">
                <a:solidFill>
                  <a:srgbClr val="7E9089"/>
                </a:solidFill>
                <a:latin typeface="Courier New" pitchFamily="34" charset="0"/>
                <a:ea typeface="Courier New" pitchFamily="34" charset="-122"/>
                <a:cs typeface="Courier New" pitchFamily="34" charset="-120"/>
              </a:rPr>
              <a:t>Fatima Naseer   /   Institute of Space Technology, Islamabad</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02336"/>
            <a:ext cx="10607040" cy="274320"/>
          </a:xfrm>
          <a:prstGeom prst="rect">
            <a:avLst/>
          </a:prstGeom>
          <a:noFill/>
          <a:ln/>
        </p:spPr>
        <p:txBody>
          <a:bodyPr wrap="square" lIns="0" tIns="0" rIns="0" bIns="0" rtlCol="0" anchor="ctr"/>
          <a:lstStyle/>
          <a:p>
            <a:pPr indent="0" marL="0">
              <a:buNone/>
            </a:pPr>
            <a:r>
              <a:rPr lang="en-US" sz="900" spc="100" kern="0" dirty="0">
                <a:solidFill>
                  <a:srgbClr val="6B7671"/>
                </a:solidFill>
                <a:latin typeface="Courier New" pitchFamily="34" charset="0"/>
                <a:ea typeface="Courier New" pitchFamily="34" charset="-122"/>
                <a:cs typeface="Courier New" pitchFamily="34" charset="-120"/>
              </a:rPr>
              <a:t>0 1</a:t>
            </a:r>
            <a:endParaRPr lang="en-US" sz="900" dirty="0"/>
          </a:p>
        </p:txBody>
      </p:sp>
      <p:sp>
        <p:nvSpPr>
          <p:cNvPr id="3" name="Text 1"/>
          <p:cNvSpPr/>
          <p:nvPr/>
        </p:nvSpPr>
        <p:spPr>
          <a:xfrm>
            <a:off x="777240" y="749808"/>
            <a:ext cx="10607040" cy="914400"/>
          </a:xfrm>
          <a:prstGeom prst="rect">
            <a:avLst/>
          </a:prstGeom>
          <a:noFill/>
          <a:ln/>
        </p:spPr>
        <p:txBody>
          <a:bodyPr wrap="square" lIns="0" tIns="0" rIns="0" bIns="0" rtlCol="0" anchor="t"/>
          <a:lstStyle/>
          <a:p>
            <a:pPr indent="0" marL="0">
              <a:buNone/>
            </a:pPr>
            <a:r>
              <a:rPr lang="en-US" sz="3000" b="1" dirty="0">
                <a:solidFill>
                  <a:srgbClr val="12181A"/>
                </a:solidFill>
                <a:latin typeface="Arial" pitchFamily="34" charset="0"/>
                <a:ea typeface="Arial" pitchFamily="34" charset="-122"/>
                <a:cs typeface="Arial" pitchFamily="34" charset="-120"/>
              </a:rPr>
              <a:t>The decision on the table</a:t>
            </a:r>
            <a:endParaRPr lang="en-US" sz="3000" dirty="0"/>
          </a:p>
        </p:txBody>
      </p:sp>
      <p:sp>
        <p:nvSpPr>
          <p:cNvPr id="4" name="Text 2"/>
          <p:cNvSpPr/>
          <p:nvPr/>
        </p:nvSpPr>
        <p:spPr>
          <a:xfrm>
            <a:off x="777240" y="1783080"/>
            <a:ext cx="5669280" cy="1280160"/>
          </a:xfrm>
          <a:prstGeom prst="rect">
            <a:avLst/>
          </a:prstGeom>
          <a:noFill/>
          <a:ln/>
        </p:spPr>
        <p:txBody>
          <a:bodyPr wrap="square" lIns="0" tIns="0" rIns="0" bIns="0" rtlCol="0" anchor="ctr"/>
          <a:lstStyle/>
          <a:p>
            <a:pPr indent="0" marL="0">
              <a:buNone/>
            </a:pPr>
            <a:r>
              <a:rPr lang="en-US" sz="1400" dirty="0">
                <a:solidFill>
                  <a:srgbClr val="2A3639"/>
                </a:solidFill>
                <a:latin typeface="Arial" pitchFamily="34" charset="0"/>
                <a:ea typeface="Arial" pitchFamily="34" charset="-122"/>
                <a:cs typeface="Arial" pitchFamily="34" charset="-120"/>
              </a:rPr>
              <a:t>A courier operation takes tens of thousands of support messages a month, most of them on WhatsApp, most of them in Roman Urdu or a mix of Urdu and English. Every one has to be read, labelled, routed, and answered.</a:t>
            </a:r>
            <a:endParaRPr lang="en-US" sz="1400" dirty="0"/>
          </a:p>
        </p:txBody>
      </p:sp>
      <p:sp>
        <p:nvSpPr>
          <p:cNvPr id="5" name="Text 3"/>
          <p:cNvSpPr/>
          <p:nvPr/>
        </p:nvSpPr>
        <p:spPr>
          <a:xfrm>
            <a:off x="777240" y="3200400"/>
            <a:ext cx="5669280" cy="1097280"/>
          </a:xfrm>
          <a:prstGeom prst="rect">
            <a:avLst/>
          </a:prstGeom>
          <a:noFill/>
          <a:ln/>
        </p:spPr>
        <p:txBody>
          <a:bodyPr wrap="square" lIns="0" tIns="0" rIns="0" bIns="0" rtlCol="0" anchor="ctr"/>
          <a:lstStyle/>
          <a:p>
            <a:pPr indent="0" marL="0">
              <a:buNone/>
            </a:pPr>
            <a:r>
              <a:rPr lang="en-US" sz="1400" dirty="0">
                <a:solidFill>
                  <a:srgbClr val="2A3639"/>
                </a:solidFill>
                <a:latin typeface="Arial" pitchFamily="34" charset="0"/>
                <a:ea typeface="Arial" pitchFamily="34" charset="-122"/>
                <a:cs typeface="Arial" pitchFamily="34" charset="-120"/>
              </a:rPr>
              <a:t>The question is which model reads them first. That is a build decision with a monthly invoice attached, so it deserves a measurement rather than a preference.</a:t>
            </a:r>
            <a:endParaRPr lang="en-US" sz="1400" dirty="0"/>
          </a:p>
        </p:txBody>
      </p:sp>
      <p:sp>
        <p:nvSpPr>
          <p:cNvPr id="6" name="Shape 4"/>
          <p:cNvSpPr/>
          <p:nvPr/>
        </p:nvSpPr>
        <p:spPr>
          <a:xfrm>
            <a:off x="6949440" y="1783080"/>
            <a:ext cx="4434840" cy="1143000"/>
          </a:xfrm>
          <a:prstGeom prst="rect">
            <a:avLst/>
          </a:prstGeom>
          <a:solidFill>
            <a:srgbClr val="F4F6F3"/>
          </a:solidFill>
          <a:ln w="6350">
            <a:solidFill>
              <a:srgbClr val="C7CDC6"/>
            </a:solidFill>
            <a:prstDash val="solid"/>
          </a:ln>
        </p:spPr>
      </p:sp>
      <p:sp>
        <p:nvSpPr>
          <p:cNvPr id="7" name="Text 5"/>
          <p:cNvSpPr/>
          <p:nvPr/>
        </p:nvSpPr>
        <p:spPr>
          <a:xfrm>
            <a:off x="7178040" y="1892808"/>
            <a:ext cx="1554480" cy="640080"/>
          </a:xfrm>
          <a:prstGeom prst="rect">
            <a:avLst/>
          </a:prstGeom>
          <a:noFill/>
          <a:ln/>
        </p:spPr>
        <p:txBody>
          <a:bodyPr wrap="square" lIns="0" tIns="0" rIns="0" bIns="0" rtlCol="0" anchor="ctr"/>
          <a:lstStyle/>
          <a:p>
            <a:pPr indent="0" marL="0">
              <a:buNone/>
            </a:pPr>
            <a:r>
              <a:rPr lang="en-US" sz="3000" b="1" dirty="0">
                <a:solidFill>
                  <a:srgbClr val="12181A"/>
                </a:solidFill>
                <a:latin typeface="Arial" pitchFamily="34" charset="0"/>
                <a:ea typeface="Arial" pitchFamily="34" charset="-122"/>
                <a:cs typeface="Arial" pitchFamily="34" charset="-120"/>
              </a:rPr>
              <a:t>42,000</a:t>
            </a:r>
            <a:endParaRPr lang="en-US" sz="3000" dirty="0"/>
          </a:p>
        </p:txBody>
      </p:sp>
      <p:sp>
        <p:nvSpPr>
          <p:cNvPr id="8" name="Text 6"/>
          <p:cNvSpPr/>
          <p:nvPr/>
        </p:nvSpPr>
        <p:spPr>
          <a:xfrm>
            <a:off x="7178040" y="2468880"/>
            <a:ext cx="3931920" cy="384048"/>
          </a:xfrm>
          <a:prstGeom prst="rect">
            <a:avLst/>
          </a:prstGeom>
          <a:noFill/>
          <a:ln/>
        </p:spPr>
        <p:txBody>
          <a:bodyPr wrap="square" lIns="0" tIns="0" rIns="0" bIns="0" rtlCol="0" anchor="ctr"/>
          <a:lstStyle/>
          <a:p>
            <a:pPr indent="0" marL="0">
              <a:buNone/>
            </a:pPr>
            <a:r>
              <a:rPr lang="en-US" sz="1150" dirty="0">
                <a:solidFill>
                  <a:srgbClr val="6B7671"/>
                </a:solidFill>
                <a:latin typeface="Arial" pitchFamily="34" charset="0"/>
                <a:ea typeface="Arial" pitchFamily="34" charset="-122"/>
                <a:cs typeface="Arial" pitchFamily="34" charset="-120"/>
              </a:rPr>
              <a:t>inbound contacts a month</a:t>
            </a:r>
            <a:endParaRPr lang="en-US" sz="1150" dirty="0"/>
          </a:p>
        </p:txBody>
      </p:sp>
      <p:sp>
        <p:nvSpPr>
          <p:cNvPr id="9" name="Shape 7"/>
          <p:cNvSpPr/>
          <p:nvPr/>
        </p:nvSpPr>
        <p:spPr>
          <a:xfrm>
            <a:off x="6949440" y="3154680"/>
            <a:ext cx="4434840" cy="1143000"/>
          </a:xfrm>
          <a:prstGeom prst="rect">
            <a:avLst/>
          </a:prstGeom>
          <a:solidFill>
            <a:srgbClr val="F4F6F3"/>
          </a:solidFill>
          <a:ln w="6350">
            <a:solidFill>
              <a:srgbClr val="C7CDC6"/>
            </a:solidFill>
            <a:prstDash val="solid"/>
          </a:ln>
        </p:spPr>
      </p:sp>
      <p:sp>
        <p:nvSpPr>
          <p:cNvPr id="10" name="Text 8"/>
          <p:cNvSpPr/>
          <p:nvPr/>
        </p:nvSpPr>
        <p:spPr>
          <a:xfrm>
            <a:off x="7178040" y="3264408"/>
            <a:ext cx="1554480" cy="640080"/>
          </a:xfrm>
          <a:prstGeom prst="rect">
            <a:avLst/>
          </a:prstGeom>
          <a:noFill/>
          <a:ln/>
        </p:spPr>
        <p:txBody>
          <a:bodyPr wrap="square" lIns="0" tIns="0" rIns="0" bIns="0" rtlCol="0" anchor="ctr"/>
          <a:lstStyle/>
          <a:p>
            <a:pPr indent="0" marL="0">
              <a:buNone/>
            </a:pPr>
            <a:r>
              <a:rPr lang="en-US" sz="3000" b="1" dirty="0">
                <a:solidFill>
                  <a:srgbClr val="12181A"/>
                </a:solidFill>
                <a:latin typeface="Arial" pitchFamily="34" charset="0"/>
                <a:ea typeface="Arial" pitchFamily="34" charset="-122"/>
                <a:cs typeface="Arial" pitchFamily="34" charset="-120"/>
              </a:rPr>
              <a:t>3</a:t>
            </a:r>
            <a:endParaRPr lang="en-US" sz="3000" dirty="0"/>
          </a:p>
        </p:txBody>
      </p:sp>
      <p:sp>
        <p:nvSpPr>
          <p:cNvPr id="11" name="Text 9"/>
          <p:cNvSpPr/>
          <p:nvPr/>
        </p:nvSpPr>
        <p:spPr>
          <a:xfrm>
            <a:off x="7178040" y="3840480"/>
            <a:ext cx="3931920" cy="384048"/>
          </a:xfrm>
          <a:prstGeom prst="rect">
            <a:avLst/>
          </a:prstGeom>
          <a:noFill/>
          <a:ln/>
        </p:spPr>
        <p:txBody>
          <a:bodyPr wrap="square" lIns="0" tIns="0" rIns="0" bIns="0" rtlCol="0" anchor="ctr"/>
          <a:lstStyle/>
          <a:p>
            <a:pPr indent="0" marL="0">
              <a:buNone/>
            </a:pPr>
            <a:r>
              <a:rPr lang="en-US" sz="1150" dirty="0">
                <a:solidFill>
                  <a:srgbClr val="6B7671"/>
                </a:solidFill>
                <a:latin typeface="Arial" pitchFamily="34" charset="0"/>
                <a:ea typeface="Arial" pitchFamily="34" charset="-122"/>
                <a:cs typeface="Arial" pitchFamily="34" charset="-120"/>
              </a:rPr>
              <a:t>languages in one inbox: English, Roman Urdu, and the mix</a:t>
            </a:r>
            <a:endParaRPr lang="en-US" sz="1150" dirty="0"/>
          </a:p>
        </p:txBody>
      </p:sp>
      <p:sp>
        <p:nvSpPr>
          <p:cNvPr id="12" name="Shape 10"/>
          <p:cNvSpPr/>
          <p:nvPr/>
        </p:nvSpPr>
        <p:spPr>
          <a:xfrm>
            <a:off x="6949440" y="4526280"/>
            <a:ext cx="4434840" cy="1143000"/>
          </a:xfrm>
          <a:prstGeom prst="rect">
            <a:avLst/>
          </a:prstGeom>
          <a:solidFill>
            <a:srgbClr val="F4F6F3"/>
          </a:solidFill>
          <a:ln w="6350">
            <a:solidFill>
              <a:srgbClr val="C7CDC6"/>
            </a:solidFill>
            <a:prstDash val="solid"/>
          </a:ln>
        </p:spPr>
      </p:sp>
      <p:sp>
        <p:nvSpPr>
          <p:cNvPr id="13" name="Text 11"/>
          <p:cNvSpPr/>
          <p:nvPr/>
        </p:nvSpPr>
        <p:spPr>
          <a:xfrm>
            <a:off x="7178040" y="4636008"/>
            <a:ext cx="1554480" cy="640080"/>
          </a:xfrm>
          <a:prstGeom prst="rect">
            <a:avLst/>
          </a:prstGeom>
          <a:noFill/>
          <a:ln/>
        </p:spPr>
        <p:txBody>
          <a:bodyPr wrap="square" lIns="0" tIns="0" rIns="0" bIns="0" rtlCol="0" anchor="ctr"/>
          <a:lstStyle/>
          <a:p>
            <a:pPr indent="0" marL="0">
              <a:buNone/>
            </a:pPr>
            <a:r>
              <a:rPr lang="en-US" sz="3000" b="1" dirty="0">
                <a:solidFill>
                  <a:srgbClr val="12181A"/>
                </a:solidFill>
                <a:latin typeface="Arial" pitchFamily="34" charset="0"/>
                <a:ea typeface="Arial" pitchFamily="34" charset="-122"/>
                <a:cs typeface="Arial" pitchFamily="34" charset="-120"/>
              </a:rPr>
              <a:t>1</a:t>
            </a:r>
            <a:endParaRPr lang="en-US" sz="3000" dirty="0"/>
          </a:p>
        </p:txBody>
      </p:sp>
      <p:sp>
        <p:nvSpPr>
          <p:cNvPr id="14" name="Text 12"/>
          <p:cNvSpPr/>
          <p:nvPr/>
        </p:nvSpPr>
        <p:spPr>
          <a:xfrm>
            <a:off x="7178040" y="5212080"/>
            <a:ext cx="3931920" cy="384048"/>
          </a:xfrm>
          <a:prstGeom prst="rect">
            <a:avLst/>
          </a:prstGeom>
          <a:noFill/>
          <a:ln/>
        </p:spPr>
        <p:txBody>
          <a:bodyPr wrap="square" lIns="0" tIns="0" rIns="0" bIns="0" rtlCol="0" anchor="ctr"/>
          <a:lstStyle/>
          <a:p>
            <a:pPr indent="0" marL="0">
              <a:buNone/>
            </a:pPr>
            <a:r>
              <a:rPr lang="en-US" sz="1150" dirty="0">
                <a:solidFill>
                  <a:srgbClr val="6B7671"/>
                </a:solidFill>
                <a:latin typeface="Arial" pitchFamily="34" charset="0"/>
                <a:ea typeface="Arial" pitchFamily="34" charset="-122"/>
                <a:cs typeface="Arial" pitchFamily="34" charset="-120"/>
              </a:rPr>
              <a:t>wrong reply is all it takes to lose a customer's trust</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02336"/>
            <a:ext cx="10607040" cy="274320"/>
          </a:xfrm>
          <a:prstGeom prst="rect">
            <a:avLst/>
          </a:prstGeom>
          <a:noFill/>
          <a:ln/>
        </p:spPr>
        <p:txBody>
          <a:bodyPr wrap="square" lIns="0" tIns="0" rIns="0" bIns="0" rtlCol="0" anchor="ctr"/>
          <a:lstStyle/>
          <a:p>
            <a:pPr indent="0" marL="0">
              <a:buNone/>
            </a:pPr>
            <a:r>
              <a:rPr lang="en-US" sz="900" spc="100" kern="0" dirty="0">
                <a:solidFill>
                  <a:srgbClr val="6B7671"/>
                </a:solidFill>
                <a:latin typeface="Courier New" pitchFamily="34" charset="0"/>
                <a:ea typeface="Courier New" pitchFamily="34" charset="-122"/>
                <a:cs typeface="Courier New" pitchFamily="34" charset="-120"/>
              </a:rPr>
              <a:t>0 2</a:t>
            </a:r>
            <a:endParaRPr lang="en-US" sz="900" dirty="0"/>
          </a:p>
        </p:txBody>
      </p:sp>
      <p:sp>
        <p:nvSpPr>
          <p:cNvPr id="3" name="Text 1"/>
          <p:cNvSpPr/>
          <p:nvPr/>
        </p:nvSpPr>
        <p:spPr>
          <a:xfrm>
            <a:off x="777240" y="749808"/>
            <a:ext cx="10607040" cy="914400"/>
          </a:xfrm>
          <a:prstGeom prst="rect">
            <a:avLst/>
          </a:prstGeom>
          <a:noFill/>
          <a:ln/>
        </p:spPr>
        <p:txBody>
          <a:bodyPr wrap="square" lIns="0" tIns="0" rIns="0" bIns="0" rtlCol="0" anchor="t"/>
          <a:lstStyle/>
          <a:p>
            <a:pPr indent="0" marL="0">
              <a:buNone/>
            </a:pPr>
            <a:r>
              <a:rPr lang="en-US" sz="3000" b="1" dirty="0">
                <a:solidFill>
                  <a:srgbClr val="12181A"/>
                </a:solidFill>
                <a:latin typeface="Arial" pitchFamily="34" charset="0"/>
                <a:ea typeface="Arial" pitchFamily="34" charset="-122"/>
                <a:cs typeface="Arial" pitchFamily="34" charset="-120"/>
              </a:rPr>
              <a:t>What the model is actually asked to do</a:t>
            </a:r>
            <a:endParaRPr lang="en-US" sz="3000" dirty="0"/>
          </a:p>
        </p:txBody>
      </p:sp>
      <p:sp>
        <p:nvSpPr>
          <p:cNvPr id="4" name="Text 2"/>
          <p:cNvSpPr/>
          <p:nvPr/>
        </p:nvSpPr>
        <p:spPr>
          <a:xfrm>
            <a:off x="777240" y="1737360"/>
            <a:ext cx="4937760" cy="1188720"/>
          </a:xfrm>
          <a:prstGeom prst="rect">
            <a:avLst/>
          </a:prstGeom>
          <a:noFill/>
          <a:ln/>
        </p:spPr>
        <p:txBody>
          <a:bodyPr wrap="square" lIns="0" tIns="0" rIns="0" bIns="0" rtlCol="0" anchor="ctr"/>
          <a:lstStyle/>
          <a:p>
            <a:pPr indent="0" marL="0">
              <a:buNone/>
            </a:pPr>
            <a:r>
              <a:rPr lang="en-US" sz="1400" dirty="0">
                <a:solidFill>
                  <a:srgbClr val="2A3639"/>
                </a:solidFill>
                <a:latin typeface="Arial" pitchFamily="34" charset="0"/>
                <a:ea typeface="Arial" pitchFamily="34" charset="-122"/>
                <a:cs typeface="Arial" pitchFamily="34" charset="-120"/>
              </a:rPr>
              <a:t>One customer message in. One JSON object out. The JSON goes to the ticketing system, the reply goes to the customer. Both halves matter and they fail differently.</a:t>
            </a:r>
            <a:endParaRPr lang="en-US" sz="1400" dirty="0"/>
          </a:p>
        </p:txBody>
      </p:sp>
      <p:sp>
        <p:nvSpPr>
          <p:cNvPr id="5" name="Text 3"/>
          <p:cNvSpPr/>
          <p:nvPr/>
        </p:nvSpPr>
        <p:spPr>
          <a:xfrm>
            <a:off x="777240" y="3200400"/>
            <a:ext cx="4937760" cy="292608"/>
          </a:xfrm>
          <a:prstGeom prst="rect">
            <a:avLst/>
          </a:prstGeom>
          <a:noFill/>
          <a:ln/>
        </p:spPr>
        <p:txBody>
          <a:bodyPr wrap="square" lIns="0" tIns="0" rIns="0" bIns="0" rtlCol="0" anchor="ctr"/>
          <a:lstStyle/>
          <a:p>
            <a:pPr indent="0" marL="0">
              <a:buNone/>
            </a:pPr>
            <a:r>
              <a:rPr lang="en-US" sz="1400" b="1" dirty="0">
                <a:solidFill>
                  <a:srgbClr val="B8830C"/>
                </a:solidFill>
                <a:latin typeface="Arial" pitchFamily="34" charset="0"/>
                <a:ea typeface="Arial" pitchFamily="34" charset="-122"/>
                <a:cs typeface="Arial" pitchFamily="34" charset="-120"/>
              </a:rPr>
              <a:t>Wrong intent</a:t>
            </a:r>
            <a:endParaRPr lang="en-US" sz="1400" dirty="0"/>
          </a:p>
        </p:txBody>
      </p:sp>
      <p:sp>
        <p:nvSpPr>
          <p:cNvPr id="6" name="Text 4"/>
          <p:cNvSpPr/>
          <p:nvPr/>
        </p:nvSpPr>
        <p:spPr>
          <a:xfrm>
            <a:off x="777240" y="3529584"/>
            <a:ext cx="4937760" cy="548640"/>
          </a:xfrm>
          <a:prstGeom prst="rect">
            <a:avLst/>
          </a:prstGeom>
          <a:noFill/>
          <a:ln/>
        </p:spPr>
        <p:txBody>
          <a:bodyPr wrap="square" lIns="0" tIns="0" rIns="0" bIns="0" rtlCol="0" anchor="ctr"/>
          <a:lstStyle/>
          <a:p>
            <a:pPr indent="0" marL="0">
              <a:buNone/>
            </a:pPr>
            <a:r>
              <a:rPr lang="en-US" sz="1250" dirty="0">
                <a:solidFill>
                  <a:srgbClr val="2A3639"/>
                </a:solidFill>
                <a:latin typeface="Arial" pitchFamily="34" charset="0"/>
                <a:ea typeface="Arial" pitchFamily="34" charset="-122"/>
                <a:cs typeface="Arial" pitchFamily="34" charset="-120"/>
              </a:rPr>
              <a:t>creates a ticket in the wrong queue. Costs staff time.</a:t>
            </a:r>
            <a:endParaRPr lang="en-US" sz="1250" dirty="0"/>
          </a:p>
        </p:txBody>
      </p:sp>
      <p:sp>
        <p:nvSpPr>
          <p:cNvPr id="7" name="Text 5"/>
          <p:cNvSpPr/>
          <p:nvPr/>
        </p:nvSpPr>
        <p:spPr>
          <a:xfrm>
            <a:off x="777240" y="4434840"/>
            <a:ext cx="4937760" cy="292608"/>
          </a:xfrm>
          <a:prstGeom prst="rect">
            <a:avLst/>
          </a:prstGeom>
          <a:noFill/>
          <a:ln/>
        </p:spPr>
        <p:txBody>
          <a:bodyPr wrap="square" lIns="0" tIns="0" rIns="0" bIns="0" rtlCol="0" anchor="ctr"/>
          <a:lstStyle/>
          <a:p>
            <a:pPr indent="0" marL="0">
              <a:buNone/>
            </a:pPr>
            <a:r>
              <a:rPr lang="en-US" sz="1400" b="1" dirty="0">
                <a:solidFill>
                  <a:srgbClr val="A32A1F"/>
                </a:solidFill>
                <a:latin typeface="Arial" pitchFamily="34" charset="0"/>
                <a:ea typeface="Arial" pitchFamily="34" charset="-122"/>
                <a:cs typeface="Arial" pitchFamily="34" charset="-120"/>
              </a:rPr>
              <a:t>Invented fact</a:t>
            </a:r>
            <a:endParaRPr lang="en-US" sz="1400" dirty="0"/>
          </a:p>
        </p:txBody>
      </p:sp>
      <p:sp>
        <p:nvSpPr>
          <p:cNvPr id="8" name="Text 6"/>
          <p:cNvSpPr/>
          <p:nvPr/>
        </p:nvSpPr>
        <p:spPr>
          <a:xfrm>
            <a:off x="777240" y="4764024"/>
            <a:ext cx="4937760" cy="548640"/>
          </a:xfrm>
          <a:prstGeom prst="rect">
            <a:avLst/>
          </a:prstGeom>
          <a:noFill/>
          <a:ln/>
        </p:spPr>
        <p:txBody>
          <a:bodyPr wrap="square" lIns="0" tIns="0" rIns="0" bIns="0" rtlCol="0" anchor="ctr"/>
          <a:lstStyle/>
          <a:p>
            <a:pPr indent="0" marL="0">
              <a:buNone/>
            </a:pPr>
            <a:r>
              <a:rPr lang="en-US" sz="1250" dirty="0">
                <a:solidFill>
                  <a:srgbClr val="2A3639"/>
                </a:solidFill>
                <a:latin typeface="Arial" pitchFamily="34" charset="0"/>
                <a:ea typeface="Arial" pitchFamily="34" charset="-122"/>
                <a:cs typeface="Arial" pitchFamily="34" charset="-120"/>
              </a:rPr>
              <a:t>reaches the customer. Costs trust, and you find out from a complaint.</a:t>
            </a:r>
            <a:endParaRPr lang="en-US" sz="1250" dirty="0"/>
          </a:p>
        </p:txBody>
      </p:sp>
      <p:sp>
        <p:nvSpPr>
          <p:cNvPr id="9" name="Shape 7"/>
          <p:cNvSpPr/>
          <p:nvPr/>
        </p:nvSpPr>
        <p:spPr>
          <a:xfrm>
            <a:off x="6263640" y="1691640"/>
            <a:ext cx="5120640" cy="4023360"/>
          </a:xfrm>
          <a:prstGeom prst="rect">
            <a:avLst/>
          </a:prstGeom>
          <a:solidFill>
            <a:srgbClr val="12181A"/>
          </a:solidFill>
          <a:ln w="6350">
            <a:solidFill>
              <a:srgbClr val="C7CDC6"/>
            </a:solidFill>
            <a:prstDash val="solid"/>
          </a:ln>
        </p:spPr>
      </p:sp>
      <p:sp>
        <p:nvSpPr>
          <p:cNvPr id="10" name="Text 8"/>
          <p:cNvSpPr/>
          <p:nvPr/>
        </p:nvSpPr>
        <p:spPr>
          <a:xfrm>
            <a:off x="6537960" y="1965960"/>
            <a:ext cx="4617720" cy="3474720"/>
          </a:xfrm>
          <a:prstGeom prst="rect">
            <a:avLst/>
          </a:prstGeom>
          <a:noFill/>
          <a:ln/>
        </p:spPr>
        <p:txBody>
          <a:bodyPr wrap="square" lIns="0" tIns="0" rIns="0" bIns="0" rtlCol="0" anchor="t"/>
          <a:lstStyle/>
          <a:p>
            <a:pPr indent="0" marL="0">
              <a:lnSpc>
                <a:spcPts val="1700"/>
              </a:lnSpc>
              <a:buNone/>
            </a:pPr>
            <a:r>
              <a:rPr lang="en-US" sz="1150" dirty="0">
                <a:solidFill>
                  <a:srgbClr val="8FA096"/>
                </a:solidFill>
                <a:latin typeface="Courier New" pitchFamily="34" charset="0"/>
                <a:ea typeface="Courier New" pitchFamily="34" charset="-122"/>
                <a:cs typeface="Courier New" pitchFamily="34" charset="-120"/>
              </a:rPr>
              <a:t>{
</a:t>
            </a:r>
            <a:pPr indent="0" marL="0">
              <a:lnSpc>
                <a:spcPts val="1700"/>
              </a:lnSpc>
              <a:buNone/>
            </a:pPr>
            <a:r>
              <a:rPr lang="en-US" sz="1150" dirty="0">
                <a:solidFill>
                  <a:srgbClr val="E9EDE8"/>
                </a:solidFill>
                <a:latin typeface="Courier New" pitchFamily="34" charset="0"/>
                <a:ea typeface="Courier New" pitchFamily="34" charset="-122"/>
                <a:cs typeface="Courier New" pitchFamily="34" charset="-120"/>
              </a:rPr>
              <a:t>  "intent":         "delayed_delivery",
</a:t>
            </a:r>
            <a:pPr indent="0" marL="0">
              <a:lnSpc>
                <a:spcPts val="1700"/>
              </a:lnSpc>
              <a:buNone/>
            </a:pPr>
            <a:r>
              <a:rPr lang="en-US" sz="1150" dirty="0">
                <a:solidFill>
                  <a:srgbClr val="E9EDE8"/>
                </a:solidFill>
                <a:latin typeface="Courier New" pitchFamily="34" charset="0"/>
                <a:ea typeface="Courier New" pitchFamily="34" charset="-122"/>
                <a:cs typeface="Courier New" pitchFamily="34" charset="-120"/>
              </a:rPr>
              <a:t>  "tracking_id":    "RGX8830115",
</a:t>
            </a:r>
            <a:pPr indent="0" marL="0">
              <a:lnSpc>
                <a:spcPts val="1700"/>
              </a:lnSpc>
              <a:buNone/>
            </a:pPr>
            <a:r>
              <a:rPr lang="en-US" sz="1150" dirty="0">
                <a:solidFill>
                  <a:srgbClr val="E9EDE8"/>
                </a:solidFill>
                <a:latin typeface="Courier New" pitchFamily="34" charset="0"/>
                <a:ea typeface="Courier New" pitchFamily="34" charset="-122"/>
                <a:cs typeface="Courier New" pitchFamily="34" charset="-120"/>
              </a:rPr>
              <a:t>  "city":           null,
</a:t>
            </a:r>
            <a:pPr indent="0" marL="0">
              <a:lnSpc>
                <a:spcPts val="1700"/>
              </a:lnSpc>
              <a:buNone/>
            </a:pPr>
            <a:r>
              <a:rPr lang="en-US" sz="1150" dirty="0">
                <a:solidFill>
                  <a:srgbClr val="E9EDE8"/>
                </a:solidFill>
                <a:latin typeface="Courier New" pitchFamily="34" charset="0"/>
                <a:ea typeface="Courier New" pitchFamily="34" charset="-122"/>
                <a:cs typeface="Courier New" pitchFamily="34" charset="-120"/>
              </a:rPr>
              <a:t>  "cod_amount_pkr": null,
</a:t>
            </a:r>
            <a:pPr indent="0" marL="0">
              <a:lnSpc>
                <a:spcPts val="1700"/>
              </a:lnSpc>
              <a:buNone/>
            </a:pPr>
            <a:r>
              <a:rPr lang="en-US" sz="1150" dirty="0">
                <a:solidFill>
                  <a:srgbClr val="E9EDE8"/>
                </a:solidFill>
                <a:latin typeface="Courier New" pitchFamily="34" charset="0"/>
                <a:ea typeface="Courier New" pitchFamily="34" charset="-122"/>
                <a:cs typeface="Courier New" pitchFamily="34" charset="-120"/>
              </a:rPr>
              <a:t>  "action":         "create_ticket",
</a:t>
            </a:r>
            <a:pPr indent="0" marL="0">
              <a:lnSpc>
                <a:spcPts val="1700"/>
              </a:lnSpc>
              <a:buNone/>
            </a:pPr>
            <a:r>
              <a:rPr lang="en-US" sz="1150" dirty="0">
                <a:solidFill>
                  <a:srgbClr val="E9EDE8"/>
                </a:solidFill>
                <a:latin typeface="Courier New" pitchFamily="34" charset="0"/>
                <a:ea typeface="Courier New" pitchFamily="34" charset="-122"/>
                <a:cs typeface="Courier New" pitchFamily="34" charset="-120"/>
              </a:rPr>
              <a:t>  "reply":          "Aap ka parcel check
</a:t>
            </a:r>
            <a:pPr indent="0" marL="0">
              <a:lnSpc>
                <a:spcPts val="1700"/>
              </a:lnSpc>
              <a:buNone/>
            </a:pPr>
            <a:r>
              <a:rPr lang="en-US" sz="1150" dirty="0">
                <a:solidFill>
                  <a:srgbClr val="E9EDE8"/>
                </a:solidFill>
                <a:latin typeface="Courier New" pitchFamily="34" charset="0"/>
                <a:ea typeface="Courier New" pitchFamily="34" charset="-122"/>
                <a:cs typeface="Courier New" pitchFamily="34" charset="-120"/>
              </a:rPr>
              <a:t>                     kar rahe hain, isi
</a:t>
            </a:r>
            <a:pPr indent="0" marL="0">
              <a:lnSpc>
                <a:spcPts val="1700"/>
              </a:lnSpc>
              <a:buNone/>
            </a:pPr>
            <a:r>
              <a:rPr lang="en-US" sz="1150" dirty="0">
                <a:solidFill>
                  <a:srgbClr val="E9EDE8"/>
                </a:solidFill>
                <a:latin typeface="Courier New" pitchFamily="34" charset="0"/>
                <a:ea typeface="Courier New" pitchFamily="34" charset="-122"/>
                <a:cs typeface="Courier New" pitchFamily="34" charset="-120"/>
              </a:rPr>
              <a:t>                     chat par bata denge."
</a:t>
            </a:r>
            <a:pPr indent="0" marL="0">
              <a:lnSpc>
                <a:spcPts val="1700"/>
              </a:lnSpc>
              <a:buNone/>
            </a:pPr>
            <a:r>
              <a:rPr lang="en-US" sz="1150" dirty="0">
                <a:solidFill>
                  <a:srgbClr val="8FA096"/>
                </a:solidFill>
                <a:latin typeface="Courier New" pitchFamily="34" charset="0"/>
                <a:ea typeface="Courier New" pitchFamily="34" charset="-122"/>
                <a:cs typeface="Courier New" pitchFamily="34" charset="-120"/>
              </a:rPr>
              <a: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02336"/>
            <a:ext cx="10607040" cy="274320"/>
          </a:xfrm>
          <a:prstGeom prst="rect">
            <a:avLst/>
          </a:prstGeom>
          <a:noFill/>
          <a:ln/>
        </p:spPr>
        <p:txBody>
          <a:bodyPr wrap="square" lIns="0" tIns="0" rIns="0" bIns="0" rtlCol="0" anchor="ctr"/>
          <a:lstStyle/>
          <a:p>
            <a:pPr indent="0" marL="0">
              <a:buNone/>
            </a:pPr>
            <a:r>
              <a:rPr lang="en-US" sz="900" spc="100" kern="0" dirty="0">
                <a:solidFill>
                  <a:srgbClr val="6B7671"/>
                </a:solidFill>
                <a:latin typeface="Courier New" pitchFamily="34" charset="0"/>
                <a:ea typeface="Courier New" pitchFamily="34" charset="-122"/>
                <a:cs typeface="Courier New" pitchFamily="34" charset="-120"/>
              </a:rPr>
              <a:t>0 3</a:t>
            </a:r>
            <a:endParaRPr lang="en-US" sz="900" dirty="0"/>
          </a:p>
        </p:txBody>
      </p:sp>
      <p:sp>
        <p:nvSpPr>
          <p:cNvPr id="3" name="Text 1"/>
          <p:cNvSpPr/>
          <p:nvPr/>
        </p:nvSpPr>
        <p:spPr>
          <a:xfrm>
            <a:off x="777240" y="749808"/>
            <a:ext cx="10607040" cy="914400"/>
          </a:xfrm>
          <a:prstGeom prst="rect">
            <a:avLst/>
          </a:prstGeom>
          <a:noFill/>
          <a:ln/>
        </p:spPr>
        <p:txBody>
          <a:bodyPr wrap="square" lIns="0" tIns="0" rIns="0" bIns="0" rtlCol="0" anchor="t"/>
          <a:lstStyle/>
          <a:p>
            <a:pPr indent="0" marL="0">
              <a:buNone/>
            </a:pPr>
            <a:r>
              <a:rPr lang="en-US" sz="3000" b="1" dirty="0">
                <a:solidFill>
                  <a:srgbClr val="12181A"/>
                </a:solidFill>
                <a:latin typeface="Arial" pitchFamily="34" charset="0"/>
                <a:ea typeface="Arial" pitchFamily="34" charset="-122"/>
                <a:cs typeface="Arial" pitchFamily="34" charset="-120"/>
              </a:rPr>
              <a:t>The test set is the whole argument</a:t>
            </a:r>
            <a:endParaRPr lang="en-US" sz="3000" dirty="0"/>
          </a:p>
        </p:txBody>
      </p:sp>
      <p:sp>
        <p:nvSpPr>
          <p:cNvPr id="4" name="Text 2"/>
          <p:cNvSpPr/>
          <p:nvPr/>
        </p:nvSpPr>
        <p:spPr>
          <a:xfrm>
            <a:off x="777240" y="1737360"/>
            <a:ext cx="10607040" cy="457200"/>
          </a:xfrm>
          <a:prstGeom prst="rect">
            <a:avLst/>
          </a:prstGeom>
          <a:noFill/>
          <a:ln/>
        </p:spPr>
        <p:txBody>
          <a:bodyPr wrap="square" lIns="0" tIns="0" rIns="0" bIns="0" rtlCol="0" anchor="ctr"/>
          <a:lstStyle/>
          <a:p>
            <a:pPr indent="0" marL="0">
              <a:buNone/>
            </a:pPr>
            <a:r>
              <a:rPr lang="en-US" sz="1400" dirty="0">
                <a:solidFill>
                  <a:srgbClr val="2A3639"/>
                </a:solidFill>
                <a:latin typeface="Arial" pitchFamily="34" charset="0"/>
                <a:ea typeface="Arial" pitchFamily="34" charset="-122"/>
                <a:cs typeface="Arial" pitchFamily="34" charset="-120"/>
              </a:rPr>
              <a:t>Thirty cases, written the way people actually type on WhatsApp, and labelled by hand before a single model ran.</a:t>
            </a:r>
            <a:endParaRPr lang="en-US" sz="1400" dirty="0"/>
          </a:p>
        </p:txBody>
      </p:sp>
      <p:sp>
        <p:nvSpPr>
          <p:cNvPr id="5" name="Shape 3"/>
          <p:cNvSpPr/>
          <p:nvPr/>
        </p:nvSpPr>
        <p:spPr>
          <a:xfrm>
            <a:off x="777240" y="2423160"/>
            <a:ext cx="5486400" cy="1371600"/>
          </a:xfrm>
          <a:prstGeom prst="rect">
            <a:avLst/>
          </a:prstGeom>
          <a:solidFill>
            <a:srgbClr val="12181A"/>
          </a:solidFill>
          <a:ln w="6350">
            <a:solidFill>
              <a:srgbClr val="C7CDC6"/>
            </a:solidFill>
            <a:prstDash val="solid"/>
          </a:ln>
        </p:spPr>
      </p:sp>
      <p:sp>
        <p:nvSpPr>
          <p:cNvPr id="6" name="Text 4"/>
          <p:cNvSpPr/>
          <p:nvPr/>
        </p:nvSpPr>
        <p:spPr>
          <a:xfrm>
            <a:off x="1051560" y="2697480"/>
            <a:ext cx="4937760" cy="822960"/>
          </a:xfrm>
          <a:prstGeom prst="rect">
            <a:avLst/>
          </a:prstGeom>
          <a:noFill/>
          <a:ln/>
        </p:spPr>
        <p:txBody>
          <a:bodyPr wrap="square" lIns="0" tIns="0" rIns="0" bIns="0" rtlCol="0" anchor="ctr"/>
          <a:lstStyle/>
          <a:p>
            <a:pPr indent="0" marL="0">
              <a:buNone/>
            </a:pPr>
            <a:r>
              <a:rPr lang="en-US" sz="1500" i="1" dirty="0">
                <a:solidFill>
                  <a:srgbClr val="FFFFFF"/>
                </a:solidFill>
                <a:latin typeface="Arial" pitchFamily="34" charset="0"/>
                <a:ea typeface="Arial" pitchFamily="34" charset="-122"/>
                <a:cs typeface="Arial" pitchFamily="34" charset="-120"/>
              </a:rPr>
              <a:t>"bhai mera parcel kahan hai 3 din ho gaye RGX8830115"</a:t>
            </a:r>
            <a:endParaRPr lang="en-US" sz="1500" dirty="0"/>
          </a:p>
        </p:txBody>
      </p:sp>
      <p:sp>
        <p:nvSpPr>
          <p:cNvPr id="7" name="Text 5"/>
          <p:cNvSpPr/>
          <p:nvPr/>
        </p:nvSpPr>
        <p:spPr>
          <a:xfrm>
            <a:off x="777240" y="4114800"/>
            <a:ext cx="2103120" cy="274320"/>
          </a:xfrm>
          <a:prstGeom prst="rect">
            <a:avLst/>
          </a:prstGeom>
          <a:noFill/>
          <a:ln/>
        </p:spPr>
        <p:txBody>
          <a:bodyPr wrap="square" lIns="0" tIns="0" rIns="0" bIns="0" rtlCol="0" anchor="ctr"/>
          <a:lstStyle/>
          <a:p>
            <a:pPr indent="0" marL="0">
              <a:buNone/>
            </a:pPr>
            <a:r>
              <a:rPr lang="en-US" sz="1250" b="1" dirty="0">
                <a:solidFill>
                  <a:srgbClr val="3A6E8F"/>
                </a:solidFill>
                <a:latin typeface="Arial" pitchFamily="34" charset="0"/>
                <a:ea typeface="Arial" pitchFamily="34" charset="-122"/>
                <a:cs typeface="Arial" pitchFamily="34" charset="-120"/>
              </a:rPr>
              <a:t>Gold labels</a:t>
            </a:r>
            <a:endParaRPr lang="en-US" sz="1250" dirty="0"/>
          </a:p>
        </p:txBody>
      </p:sp>
      <p:sp>
        <p:nvSpPr>
          <p:cNvPr id="8" name="Text 6"/>
          <p:cNvSpPr/>
          <p:nvPr/>
        </p:nvSpPr>
        <p:spPr>
          <a:xfrm>
            <a:off x="2926080" y="4114800"/>
            <a:ext cx="8412480" cy="566928"/>
          </a:xfrm>
          <a:prstGeom prst="rect">
            <a:avLst/>
          </a:prstGeom>
          <a:noFill/>
          <a:ln/>
        </p:spPr>
        <p:txBody>
          <a:bodyPr wrap="square" lIns="0" tIns="0" rIns="0" bIns="0" rtlCol="0" anchor="ctr"/>
          <a:lstStyle/>
          <a:p>
            <a:pPr indent="0" marL="0">
              <a:buNone/>
            </a:pPr>
            <a:r>
              <a:rPr lang="en-US" sz="1200" dirty="0">
                <a:solidFill>
                  <a:srgbClr val="2A3639"/>
                </a:solidFill>
                <a:latin typeface="Arial" pitchFamily="34" charset="0"/>
                <a:ea typeface="Arial" pitchFamily="34" charset="-122"/>
                <a:cs typeface="Arial" pitchFamily="34" charset="-120"/>
              </a:rPr>
              <a:t>intent, tracking number, city, COD amount, routing action</a:t>
            </a:r>
            <a:endParaRPr lang="en-US" sz="1200" dirty="0"/>
          </a:p>
        </p:txBody>
      </p:sp>
      <p:sp>
        <p:nvSpPr>
          <p:cNvPr id="9" name="Text 7"/>
          <p:cNvSpPr/>
          <p:nvPr/>
        </p:nvSpPr>
        <p:spPr>
          <a:xfrm>
            <a:off x="777240" y="4864608"/>
            <a:ext cx="2103120" cy="274320"/>
          </a:xfrm>
          <a:prstGeom prst="rect">
            <a:avLst/>
          </a:prstGeom>
          <a:noFill/>
          <a:ln/>
        </p:spPr>
        <p:txBody>
          <a:bodyPr wrap="square" lIns="0" tIns="0" rIns="0" bIns="0" rtlCol="0" anchor="ctr"/>
          <a:lstStyle/>
          <a:p>
            <a:pPr indent="0" marL="0">
              <a:buNone/>
            </a:pPr>
            <a:r>
              <a:rPr lang="en-US" sz="1250" b="1" dirty="0">
                <a:solidFill>
                  <a:srgbClr val="0B6E4F"/>
                </a:solidFill>
                <a:latin typeface="Arial" pitchFamily="34" charset="0"/>
                <a:ea typeface="Arial" pitchFamily="34" charset="-122"/>
                <a:cs typeface="Arial" pitchFamily="34" charset="-120"/>
              </a:rPr>
              <a:t>Required facts</a:t>
            </a:r>
            <a:endParaRPr lang="en-US" sz="1250" dirty="0"/>
          </a:p>
        </p:txBody>
      </p:sp>
      <p:sp>
        <p:nvSpPr>
          <p:cNvPr id="10" name="Text 8"/>
          <p:cNvSpPr/>
          <p:nvPr/>
        </p:nvSpPr>
        <p:spPr>
          <a:xfrm>
            <a:off x="2926080" y="4864608"/>
            <a:ext cx="8412480" cy="566928"/>
          </a:xfrm>
          <a:prstGeom prst="rect">
            <a:avLst/>
          </a:prstGeom>
          <a:noFill/>
          <a:ln/>
        </p:spPr>
        <p:txBody>
          <a:bodyPr wrap="square" lIns="0" tIns="0" rIns="0" bIns="0" rtlCol="0" anchor="ctr"/>
          <a:lstStyle/>
          <a:p>
            <a:pPr indent="0" marL="0">
              <a:buNone/>
            </a:pPr>
            <a:r>
              <a:rPr lang="en-US" sz="1200" dirty="0">
                <a:solidFill>
                  <a:srgbClr val="2A3639"/>
                </a:solidFill>
                <a:latin typeface="Arial" pitchFamily="34" charset="0"/>
                <a:ea typeface="Arial" pitchFamily="34" charset="-122"/>
                <a:cs typeface="Arial" pitchFamily="34" charset="-120"/>
              </a:rPr>
              <a:t>what the reply has to contain, in English or Roman Urdu</a:t>
            </a:r>
            <a:endParaRPr lang="en-US" sz="1200" dirty="0"/>
          </a:p>
        </p:txBody>
      </p:sp>
      <p:sp>
        <p:nvSpPr>
          <p:cNvPr id="11" name="Text 9"/>
          <p:cNvSpPr/>
          <p:nvPr/>
        </p:nvSpPr>
        <p:spPr>
          <a:xfrm>
            <a:off x="777240" y="5614416"/>
            <a:ext cx="2103120" cy="274320"/>
          </a:xfrm>
          <a:prstGeom prst="rect">
            <a:avLst/>
          </a:prstGeom>
          <a:noFill/>
          <a:ln/>
        </p:spPr>
        <p:txBody>
          <a:bodyPr wrap="square" lIns="0" tIns="0" rIns="0" bIns="0" rtlCol="0" anchor="ctr"/>
          <a:lstStyle/>
          <a:p>
            <a:pPr indent="0" marL="0">
              <a:buNone/>
            </a:pPr>
            <a:r>
              <a:rPr lang="en-US" sz="1250" b="1" dirty="0">
                <a:solidFill>
                  <a:srgbClr val="A32A1F"/>
                </a:solidFill>
                <a:latin typeface="Arial" pitchFamily="34" charset="0"/>
                <a:ea typeface="Arial" pitchFamily="34" charset="-122"/>
                <a:cs typeface="Arial" pitchFamily="34" charset="-120"/>
              </a:rPr>
              <a:t>Banned inventions</a:t>
            </a:r>
            <a:endParaRPr lang="en-US" sz="1250" dirty="0"/>
          </a:p>
        </p:txBody>
      </p:sp>
      <p:sp>
        <p:nvSpPr>
          <p:cNvPr id="12" name="Text 10"/>
          <p:cNvSpPr/>
          <p:nvPr/>
        </p:nvSpPr>
        <p:spPr>
          <a:xfrm>
            <a:off x="2926080" y="5614416"/>
            <a:ext cx="8412480" cy="566928"/>
          </a:xfrm>
          <a:prstGeom prst="rect">
            <a:avLst/>
          </a:prstGeom>
          <a:noFill/>
          <a:ln/>
        </p:spPr>
        <p:txBody>
          <a:bodyPr wrap="square" lIns="0" tIns="0" rIns="0" bIns="0" rtlCol="0" anchor="ctr"/>
          <a:lstStyle/>
          <a:p>
            <a:pPr indent="0" marL="0">
              <a:buNone/>
            </a:pPr>
            <a:r>
              <a:rPr lang="en-US" sz="1200" dirty="0">
                <a:solidFill>
                  <a:srgbClr val="2A3639"/>
                </a:solidFill>
                <a:latin typeface="Arial" pitchFamily="34" charset="0"/>
                <a:ea typeface="Arial" pitchFamily="34" charset="-122"/>
                <a:cs typeface="Arial" pitchFamily="34" charset="-120"/>
              </a:rPr>
              <a:t>what it must not say, per case. A delivery date on a tracking query. An approved refund on a damage claim.</a:t>
            </a:r>
            <a:endParaRPr lang="en-US" sz="1200" dirty="0"/>
          </a:p>
        </p:txBody>
      </p:sp>
      <p:sp>
        <p:nvSpPr>
          <p:cNvPr id="13" name="Text 11"/>
          <p:cNvSpPr/>
          <p:nvPr/>
        </p:nvSpPr>
        <p:spPr>
          <a:xfrm>
            <a:off x="6675120" y="2468880"/>
            <a:ext cx="1097280" cy="502920"/>
          </a:xfrm>
          <a:prstGeom prst="rect">
            <a:avLst/>
          </a:prstGeom>
          <a:noFill/>
          <a:ln/>
        </p:spPr>
        <p:txBody>
          <a:bodyPr wrap="square" lIns="0" tIns="0" rIns="0" bIns="0" rtlCol="0" anchor="ctr"/>
          <a:lstStyle/>
          <a:p>
            <a:pPr indent="0" marL="0">
              <a:buNone/>
            </a:pPr>
            <a:r>
              <a:rPr lang="en-US" sz="2600" b="1" dirty="0">
                <a:solidFill>
                  <a:srgbClr val="12181A"/>
                </a:solidFill>
                <a:latin typeface="Arial" pitchFamily="34" charset="0"/>
                <a:ea typeface="Arial" pitchFamily="34" charset="-122"/>
                <a:cs typeface="Arial" pitchFamily="34" charset="-120"/>
              </a:rPr>
              <a:t>9</a:t>
            </a:r>
            <a:endParaRPr lang="en-US" sz="2600" dirty="0"/>
          </a:p>
        </p:txBody>
      </p:sp>
      <p:sp>
        <p:nvSpPr>
          <p:cNvPr id="14" name="Text 12"/>
          <p:cNvSpPr/>
          <p:nvPr/>
        </p:nvSpPr>
        <p:spPr>
          <a:xfrm>
            <a:off x="6675120" y="3017520"/>
            <a:ext cx="1143000" cy="457200"/>
          </a:xfrm>
          <a:prstGeom prst="rect">
            <a:avLst/>
          </a:prstGeom>
          <a:noFill/>
          <a:ln/>
        </p:spPr>
        <p:txBody>
          <a:bodyPr wrap="square" lIns="0" tIns="0" rIns="0" bIns="0" rtlCol="0" anchor="ctr"/>
          <a:lstStyle/>
          <a:p>
            <a:pPr indent="0" marL="0">
              <a:buNone/>
            </a:pPr>
            <a:r>
              <a:rPr lang="en-US" sz="1000" dirty="0">
                <a:solidFill>
                  <a:srgbClr val="6B7671"/>
                </a:solidFill>
                <a:latin typeface="Arial" pitchFamily="34" charset="0"/>
                <a:ea typeface="Arial" pitchFamily="34" charset="-122"/>
                <a:cs typeface="Arial" pitchFamily="34" charset="-120"/>
              </a:rPr>
              <a:t>Roman Urdu</a:t>
            </a:r>
            <a:endParaRPr lang="en-US" sz="1000" dirty="0"/>
          </a:p>
        </p:txBody>
      </p:sp>
      <p:sp>
        <p:nvSpPr>
          <p:cNvPr id="15" name="Text 13"/>
          <p:cNvSpPr/>
          <p:nvPr/>
        </p:nvSpPr>
        <p:spPr>
          <a:xfrm>
            <a:off x="7882128" y="2468880"/>
            <a:ext cx="1097280" cy="502920"/>
          </a:xfrm>
          <a:prstGeom prst="rect">
            <a:avLst/>
          </a:prstGeom>
          <a:noFill/>
          <a:ln/>
        </p:spPr>
        <p:txBody>
          <a:bodyPr wrap="square" lIns="0" tIns="0" rIns="0" bIns="0" rtlCol="0" anchor="ctr"/>
          <a:lstStyle/>
          <a:p>
            <a:pPr indent="0" marL="0">
              <a:buNone/>
            </a:pPr>
            <a:r>
              <a:rPr lang="en-US" sz="2600" b="1" dirty="0">
                <a:solidFill>
                  <a:srgbClr val="12181A"/>
                </a:solidFill>
                <a:latin typeface="Arial" pitchFamily="34" charset="0"/>
                <a:ea typeface="Arial" pitchFamily="34" charset="-122"/>
                <a:cs typeface="Arial" pitchFamily="34" charset="-120"/>
              </a:rPr>
              <a:t>6</a:t>
            </a:r>
            <a:endParaRPr lang="en-US" sz="2600" dirty="0"/>
          </a:p>
        </p:txBody>
      </p:sp>
      <p:sp>
        <p:nvSpPr>
          <p:cNvPr id="16" name="Text 14"/>
          <p:cNvSpPr/>
          <p:nvPr/>
        </p:nvSpPr>
        <p:spPr>
          <a:xfrm>
            <a:off x="7882128" y="3017520"/>
            <a:ext cx="1143000" cy="457200"/>
          </a:xfrm>
          <a:prstGeom prst="rect">
            <a:avLst/>
          </a:prstGeom>
          <a:noFill/>
          <a:ln/>
        </p:spPr>
        <p:txBody>
          <a:bodyPr wrap="square" lIns="0" tIns="0" rIns="0" bIns="0" rtlCol="0" anchor="ctr"/>
          <a:lstStyle/>
          <a:p>
            <a:pPr indent="0" marL="0">
              <a:buNone/>
            </a:pPr>
            <a:r>
              <a:rPr lang="en-US" sz="1000" dirty="0">
                <a:solidFill>
                  <a:srgbClr val="6B7671"/>
                </a:solidFill>
                <a:latin typeface="Arial" pitchFamily="34" charset="0"/>
                <a:ea typeface="Arial" pitchFamily="34" charset="-122"/>
                <a:cs typeface="Arial" pitchFamily="34" charset="-120"/>
              </a:rPr>
              <a:t>mixed</a:t>
            </a:r>
            <a:endParaRPr lang="en-US" sz="1000" dirty="0"/>
          </a:p>
        </p:txBody>
      </p:sp>
      <p:sp>
        <p:nvSpPr>
          <p:cNvPr id="17" name="Text 15"/>
          <p:cNvSpPr/>
          <p:nvPr/>
        </p:nvSpPr>
        <p:spPr>
          <a:xfrm>
            <a:off x="9089136" y="2468880"/>
            <a:ext cx="1097280" cy="502920"/>
          </a:xfrm>
          <a:prstGeom prst="rect">
            <a:avLst/>
          </a:prstGeom>
          <a:noFill/>
          <a:ln/>
        </p:spPr>
        <p:txBody>
          <a:bodyPr wrap="square" lIns="0" tIns="0" rIns="0" bIns="0" rtlCol="0" anchor="ctr"/>
          <a:lstStyle/>
          <a:p>
            <a:pPr indent="0" marL="0">
              <a:buNone/>
            </a:pPr>
            <a:r>
              <a:rPr lang="en-US" sz="2600" b="1" dirty="0">
                <a:solidFill>
                  <a:srgbClr val="12181A"/>
                </a:solidFill>
                <a:latin typeface="Arial" pitchFamily="34" charset="0"/>
                <a:ea typeface="Arial" pitchFamily="34" charset="-122"/>
                <a:cs typeface="Arial" pitchFamily="34" charset="-120"/>
              </a:rPr>
              <a:t>15</a:t>
            </a:r>
            <a:endParaRPr lang="en-US" sz="2600" dirty="0"/>
          </a:p>
        </p:txBody>
      </p:sp>
      <p:sp>
        <p:nvSpPr>
          <p:cNvPr id="18" name="Text 16"/>
          <p:cNvSpPr/>
          <p:nvPr/>
        </p:nvSpPr>
        <p:spPr>
          <a:xfrm>
            <a:off x="9089136" y="3017520"/>
            <a:ext cx="1143000" cy="457200"/>
          </a:xfrm>
          <a:prstGeom prst="rect">
            <a:avLst/>
          </a:prstGeom>
          <a:noFill/>
          <a:ln/>
        </p:spPr>
        <p:txBody>
          <a:bodyPr wrap="square" lIns="0" tIns="0" rIns="0" bIns="0" rtlCol="0" anchor="ctr"/>
          <a:lstStyle/>
          <a:p>
            <a:pPr indent="0" marL="0">
              <a:buNone/>
            </a:pPr>
            <a:r>
              <a:rPr lang="en-US" sz="1000" dirty="0">
                <a:solidFill>
                  <a:srgbClr val="6B7671"/>
                </a:solidFill>
                <a:latin typeface="Arial" pitchFamily="34" charset="0"/>
                <a:ea typeface="Arial" pitchFamily="34" charset="-122"/>
                <a:cs typeface="Arial" pitchFamily="34" charset="-120"/>
              </a:rPr>
              <a:t>English</a:t>
            </a:r>
            <a:endParaRPr lang="en-US" sz="1000" dirty="0"/>
          </a:p>
        </p:txBody>
      </p:sp>
      <p:sp>
        <p:nvSpPr>
          <p:cNvPr id="19" name="Text 17"/>
          <p:cNvSpPr/>
          <p:nvPr/>
        </p:nvSpPr>
        <p:spPr>
          <a:xfrm>
            <a:off x="10296144" y="2468880"/>
            <a:ext cx="1097280" cy="502920"/>
          </a:xfrm>
          <a:prstGeom prst="rect">
            <a:avLst/>
          </a:prstGeom>
          <a:noFill/>
          <a:ln/>
        </p:spPr>
        <p:txBody>
          <a:bodyPr wrap="square" lIns="0" tIns="0" rIns="0" bIns="0" rtlCol="0" anchor="ctr"/>
          <a:lstStyle/>
          <a:p>
            <a:pPr indent="0" marL="0">
              <a:buNone/>
            </a:pPr>
            <a:r>
              <a:rPr lang="en-US" sz="2600" b="1" dirty="0">
                <a:solidFill>
                  <a:srgbClr val="12181A"/>
                </a:solidFill>
                <a:latin typeface="Arial" pitchFamily="34" charset="0"/>
                <a:ea typeface="Arial" pitchFamily="34" charset="-122"/>
                <a:cs typeface="Arial" pitchFamily="34" charset="-120"/>
              </a:rPr>
              <a:t>6</a:t>
            </a:r>
            <a:endParaRPr lang="en-US" sz="2600" dirty="0"/>
          </a:p>
        </p:txBody>
      </p:sp>
      <p:sp>
        <p:nvSpPr>
          <p:cNvPr id="20" name="Text 18"/>
          <p:cNvSpPr/>
          <p:nvPr/>
        </p:nvSpPr>
        <p:spPr>
          <a:xfrm>
            <a:off x="10296144" y="3017520"/>
            <a:ext cx="1143000" cy="457200"/>
          </a:xfrm>
          <a:prstGeom prst="rect">
            <a:avLst/>
          </a:prstGeom>
          <a:noFill/>
          <a:ln/>
        </p:spPr>
        <p:txBody>
          <a:bodyPr wrap="square" lIns="0" tIns="0" rIns="0" bIns="0" rtlCol="0" anchor="ctr"/>
          <a:lstStyle/>
          <a:p>
            <a:pPr indent="0" marL="0">
              <a:buNone/>
            </a:pPr>
            <a:r>
              <a:rPr lang="en-US" sz="1000" dirty="0">
                <a:solidFill>
                  <a:srgbClr val="6B7671"/>
                </a:solidFill>
                <a:latin typeface="Arial" pitchFamily="34" charset="0"/>
                <a:ea typeface="Arial" pitchFamily="34" charset="-122"/>
                <a:cs typeface="Arial" pitchFamily="34" charset="-120"/>
              </a:rPr>
              <a:t>adversarial</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02336"/>
            <a:ext cx="10607040" cy="274320"/>
          </a:xfrm>
          <a:prstGeom prst="rect">
            <a:avLst/>
          </a:prstGeom>
          <a:noFill/>
          <a:ln/>
        </p:spPr>
        <p:txBody>
          <a:bodyPr wrap="square" lIns="0" tIns="0" rIns="0" bIns="0" rtlCol="0" anchor="ctr"/>
          <a:lstStyle/>
          <a:p>
            <a:pPr indent="0" marL="0">
              <a:buNone/>
            </a:pPr>
            <a:r>
              <a:rPr lang="en-US" sz="900" spc="100" kern="0" dirty="0">
                <a:solidFill>
                  <a:srgbClr val="6B7671"/>
                </a:solidFill>
                <a:latin typeface="Courier New" pitchFamily="34" charset="0"/>
                <a:ea typeface="Courier New" pitchFamily="34" charset="-122"/>
                <a:cs typeface="Courier New" pitchFamily="34" charset="-120"/>
              </a:rPr>
              <a:t>0 4</a:t>
            </a:r>
            <a:endParaRPr lang="en-US" sz="900" dirty="0"/>
          </a:p>
        </p:txBody>
      </p:sp>
      <p:sp>
        <p:nvSpPr>
          <p:cNvPr id="3" name="Text 1"/>
          <p:cNvSpPr/>
          <p:nvPr/>
        </p:nvSpPr>
        <p:spPr>
          <a:xfrm>
            <a:off x="777240" y="749808"/>
            <a:ext cx="10607040" cy="914400"/>
          </a:xfrm>
          <a:prstGeom prst="rect">
            <a:avLst/>
          </a:prstGeom>
          <a:noFill/>
          <a:ln/>
        </p:spPr>
        <p:txBody>
          <a:bodyPr wrap="square" lIns="0" tIns="0" rIns="0" bIns="0" rtlCol="0" anchor="t"/>
          <a:lstStyle/>
          <a:p>
            <a:pPr indent="0" marL="0">
              <a:buNone/>
            </a:pPr>
            <a:r>
              <a:rPr lang="en-US" sz="3000" b="1" dirty="0">
                <a:solidFill>
                  <a:srgbClr val="12181A"/>
                </a:solidFill>
                <a:latin typeface="Arial" pitchFamily="34" charset="0"/>
                <a:ea typeface="Arial" pitchFamily="34" charset="-122"/>
                <a:cs typeface="Arial" pitchFamily="34" charset="-120"/>
              </a:rPr>
              <a:t>Accuracy is six things, not one</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1783080"/>
          <a:ext cx="6949440" cy="914400"/>
        </p:xfrm>
        <a:graphic>
          <a:graphicData uri="http://schemas.openxmlformats.org/drawingml/2006/table">
            <a:tbl>
              <a:tblPr/>
              <a:tblGrid>
                <a:gridCol w="1828800"/>
                <a:gridCol w="868680"/>
                <a:gridCol w="4251960"/>
              </a:tblGrid>
              <a:tr h="384048">
                <a:tc>
                  <a:txBody>
                    <a:bodyPr/>
                    <a:lstStyle/>
                    <a:p>
                      <a:pPr indent="0" marL="0">
                        <a:buNone/>
                      </a:pPr>
                      <a:r>
                        <a:rPr lang="en-US" sz="1150" b="1" dirty="0">
                          <a:solidFill>
                            <a:srgbClr val="FFFFFF"/>
                          </a:solidFill>
                          <a:latin typeface="Arial" pitchFamily="34" charset="0"/>
                          <a:ea typeface="Arial" pitchFamily="34" charset="-122"/>
                          <a:cs typeface="Arial" pitchFamily="34" charset="-120"/>
                        </a:rPr>
                        <a:t>Component</a:t>
                      </a:r>
                      <a:endParaRPr lang="en-US" sz="1150" dirty="0">
                        <a:latin typeface="Arial" charset="0"/>
                        <a:ea typeface="Arial" charset="0"/>
                        <a:cs typeface="Arial" charset="0"/>
                      </a:endParaRPr>
                    </a:p>
                  </a:txBody>
                  <a:tcPr marL="76200" marR="76200" marT="76200" marB="76200" anchor="ctr">
                    <a:lnL w="6350" cap="flat" cmpd="sng" algn="ctr">
                      <a:solidFill>
                        <a:srgbClr val="C7CDC6"/>
                      </a:solidFill>
                      <a:prstDash val="solid"/>
                      <a:round/>
                      <a:headEnd type="none" w="med" len="med"/>
                      <a:tailEnd type="none" w="med" len="med"/>
                    </a:lnL>
                    <a:lnR w="6350" cap="flat" cmpd="sng" algn="ctr">
                      <a:solidFill>
                        <a:srgbClr val="C7CDC6"/>
                      </a:solidFill>
                      <a:prstDash val="solid"/>
                      <a:round/>
                      <a:headEnd type="none" w="med" len="med"/>
                      <a:tailEnd type="none" w="med" len="med"/>
                    </a:lnR>
                    <a:lnT w="6350" cap="flat" cmpd="sng" algn="ctr">
                      <a:solidFill>
                        <a:srgbClr val="C7CDC6"/>
                      </a:solidFill>
                      <a:prstDash val="solid"/>
                      <a:round/>
                      <a:headEnd type="none" w="med" len="med"/>
                      <a:tailEnd type="none" w="med" len="med"/>
                    </a:lnT>
                    <a:lnB w="6350" cap="flat" cmpd="sng" algn="ctr">
                      <a:solidFill>
                        <a:srgbClr val="C7CDC6"/>
                      </a:solidFill>
                      <a:prstDash val="solid"/>
                      <a:round/>
                      <a:headEnd type="none" w="med" len="med"/>
                      <a:tailEnd type="none" w="med" len="med"/>
                    </a:lnB>
                    <a:solidFill>
                      <a:srgbClr val="12181A"/>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Weight</a:t>
                      </a:r>
                      <a:endParaRPr lang="en-US" sz="1150" dirty="0">
                        <a:latin typeface="Arial" charset="0"/>
                        <a:ea typeface="Arial" charset="0"/>
                        <a:cs typeface="Arial" charset="0"/>
                      </a:endParaRPr>
                    </a:p>
                  </a:txBody>
                  <a:tcPr marL="76200" marR="76200" marT="76200" marB="76200" anchor="ctr">
                    <a:lnL w="6350" cap="flat" cmpd="sng" algn="ctr">
                      <a:solidFill>
                        <a:srgbClr val="C7CDC6"/>
                      </a:solidFill>
                      <a:prstDash val="solid"/>
                      <a:round/>
                      <a:headEnd type="none" w="med" len="med"/>
                      <a:tailEnd type="none" w="med" len="med"/>
                    </a:lnL>
                    <a:lnR w="6350" cap="flat" cmpd="sng" algn="ctr">
                      <a:solidFill>
                        <a:srgbClr val="C7CDC6"/>
                      </a:solidFill>
                      <a:prstDash val="solid"/>
                      <a:round/>
                      <a:headEnd type="none" w="med" len="med"/>
                      <a:tailEnd type="none" w="med" len="med"/>
                    </a:lnR>
                    <a:lnT w="6350" cap="flat" cmpd="sng" algn="ctr">
                      <a:solidFill>
                        <a:srgbClr val="C7CDC6"/>
                      </a:solidFill>
                      <a:prstDash val="solid"/>
                      <a:round/>
                      <a:headEnd type="none" w="med" len="med"/>
                      <a:tailEnd type="none" w="med" len="med"/>
                    </a:lnT>
                    <a:lnB w="6350" cap="flat" cmpd="sng" algn="ctr">
                      <a:solidFill>
                        <a:srgbClr val="C7CDC6"/>
                      </a:solidFill>
                      <a:prstDash val="solid"/>
                      <a:round/>
                      <a:headEnd type="none" w="med" len="med"/>
                      <a:tailEnd type="none" w="med" len="med"/>
                    </a:lnB>
                    <a:solidFill>
                      <a:srgbClr val="12181A"/>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What it measures</a:t>
                      </a:r>
                      <a:endParaRPr lang="en-US" sz="1150" dirty="0">
                        <a:latin typeface="Arial" charset="0"/>
                        <a:ea typeface="Arial" charset="0"/>
                        <a:cs typeface="Arial" charset="0"/>
                      </a:endParaRPr>
                    </a:p>
                  </a:txBody>
                  <a:tcPr marL="76200" marR="76200" marT="76200" marB="76200" anchor="ctr">
                    <a:lnL w="6350" cap="flat" cmpd="sng" algn="ctr">
                      <a:solidFill>
                        <a:srgbClr val="C7CDC6"/>
                      </a:solidFill>
                      <a:prstDash val="solid"/>
                      <a:round/>
                      <a:headEnd type="none" w="med" len="med"/>
                      <a:tailEnd type="none" w="med" len="med"/>
                    </a:lnL>
                    <a:lnR w="6350" cap="flat" cmpd="sng" algn="ctr">
                      <a:solidFill>
                        <a:srgbClr val="C7CDC6"/>
                      </a:solidFill>
                      <a:prstDash val="solid"/>
                      <a:round/>
                      <a:headEnd type="none" w="med" len="med"/>
                      <a:tailEnd type="none" w="med" len="med"/>
                    </a:lnR>
                    <a:lnT w="6350" cap="flat" cmpd="sng" algn="ctr">
                      <a:solidFill>
                        <a:srgbClr val="C7CDC6"/>
                      </a:solidFill>
                      <a:prstDash val="solid"/>
                      <a:round/>
                      <a:headEnd type="none" w="med" len="med"/>
                      <a:tailEnd type="none" w="med" len="med"/>
                    </a:lnT>
                    <a:lnB w="6350" cap="flat" cmpd="sng" algn="ctr">
                      <a:solidFill>
                        <a:srgbClr val="C7CDC6"/>
                      </a:solidFill>
                      <a:prstDash val="solid"/>
                      <a:round/>
                      <a:headEnd type="none" w="med" len="med"/>
                      <a:tailEnd type="none" w="med" len="med"/>
                    </a:lnB>
                    <a:solidFill>
                      <a:srgbClr val="12181A"/>
                    </a:solidFill>
                  </a:tcPr>
                </a:tc>
              </a:tr>
              <a:tr h="384048">
                <a:tc>
                  <a:txBody>
                    <a:bodyPr/>
                    <a:lstStyle/>
                    <a:p>
                      <a:pPr indent="0" marL="0">
                        <a:buNone/>
                      </a:pPr>
                      <a:r>
                        <a:rPr lang="en-US" sz="1150" b="1" dirty="0">
                          <a:solidFill>
                            <a:srgbClr val="12181A"/>
                          </a:solidFill>
                          <a:latin typeface="Arial" pitchFamily="34" charset="0"/>
                          <a:ea typeface="Arial" pitchFamily="34" charset="-122"/>
                          <a:cs typeface="Arial" pitchFamily="34" charset="-120"/>
                        </a:rPr>
                        <a:t>Schema valid</a:t>
                      </a:r>
                      <a:endParaRPr lang="en-US" sz="1150" dirty="0">
                        <a:latin typeface="Arial" charset="0"/>
                        <a:ea typeface="Arial" charset="0"/>
                        <a:cs typeface="Arial" charset="0"/>
                      </a:endParaRPr>
                    </a:p>
                  </a:txBody>
                  <a:tcPr marL="76200" marR="76200" marT="76200" marB="76200" anchor="ctr">
                    <a:lnL w="6350" cap="flat" cmpd="sng" algn="ctr">
                      <a:solidFill>
                        <a:srgbClr val="C7CDC6"/>
                      </a:solidFill>
                      <a:prstDash val="solid"/>
                      <a:round/>
                      <a:headEnd type="none" w="med" len="med"/>
                      <a:tailEnd type="none" w="med" len="med"/>
                    </a:lnL>
                    <a:lnR w="6350" cap="flat" cmpd="sng" algn="ctr">
                      <a:solidFill>
                        <a:srgbClr val="C7CDC6"/>
                      </a:solidFill>
                      <a:prstDash val="solid"/>
                      <a:round/>
                      <a:headEnd type="none" w="med" len="med"/>
                      <a:tailEnd type="none" w="med" len="med"/>
                    </a:lnR>
                    <a:lnT w="6350" cap="flat" cmpd="sng" algn="ctr">
                      <a:solidFill>
                        <a:srgbClr val="C7CDC6"/>
                      </a:solidFill>
                      <a:prstDash val="solid"/>
                      <a:round/>
                      <a:headEnd type="none" w="med" len="med"/>
                      <a:tailEnd type="none" w="med" len="med"/>
                    </a:lnT>
                    <a:lnB w="6350" cap="flat" cmpd="sng" algn="ctr">
                      <a:solidFill>
                        <a:srgbClr val="C7CDC6"/>
                      </a:solidFill>
                      <a:prstDash val="solid"/>
                      <a:round/>
                      <a:headEnd type="none" w="med" len="med"/>
                      <a:tailEnd type="none" w="med" len="med"/>
                    </a:lnB>
                  </a:tcPr>
                </a:tc>
                <a:tc>
                  <a:txBody>
                    <a:bodyPr/>
                    <a:lstStyle/>
                    <a:p>
                      <a:pPr indent="0" marL="0">
                        <a:buNone/>
                      </a:pPr>
                      <a:r>
                        <a:rPr lang="en-US" sz="1150" dirty="0">
                          <a:solidFill>
                            <a:srgbClr val="2A3639"/>
                          </a:solidFill>
                          <a:latin typeface="Arial" pitchFamily="34" charset="0"/>
                          <a:ea typeface="Arial" pitchFamily="34" charset="-122"/>
                          <a:cs typeface="Arial" pitchFamily="34" charset="-120"/>
                        </a:rPr>
                        <a:t>20%</a:t>
                      </a:r>
                      <a:endParaRPr lang="en-US" sz="1150" dirty="0">
                        <a:latin typeface="Arial" charset="0"/>
                        <a:ea typeface="Arial" charset="0"/>
                        <a:cs typeface="Arial" charset="0"/>
                      </a:endParaRPr>
                    </a:p>
                  </a:txBody>
                  <a:tcPr marL="76200" marR="76200" marT="76200" marB="76200" anchor="ctr">
                    <a:lnL w="6350" cap="flat" cmpd="sng" algn="ctr">
                      <a:solidFill>
                        <a:srgbClr val="C7CDC6"/>
                      </a:solidFill>
                      <a:prstDash val="solid"/>
                      <a:round/>
                      <a:headEnd type="none" w="med" len="med"/>
                      <a:tailEnd type="none" w="med" len="med"/>
                    </a:lnL>
                    <a:lnR w="6350" cap="flat" cmpd="sng" algn="ctr">
                      <a:solidFill>
                        <a:srgbClr val="C7CDC6"/>
                      </a:solidFill>
                      <a:prstDash val="solid"/>
                      <a:round/>
                      <a:headEnd type="none" w="med" len="med"/>
                      <a:tailEnd type="none" w="med" len="med"/>
                    </a:lnR>
                    <a:lnT w="6350" cap="flat" cmpd="sng" algn="ctr">
                      <a:solidFill>
                        <a:srgbClr val="C7CDC6"/>
                      </a:solidFill>
                      <a:prstDash val="solid"/>
                      <a:round/>
                      <a:headEnd type="none" w="med" len="med"/>
                      <a:tailEnd type="none" w="med" len="med"/>
                    </a:lnT>
                    <a:lnB w="6350" cap="flat" cmpd="sng" algn="ctr">
                      <a:solidFill>
                        <a:srgbClr val="C7CDC6"/>
                      </a:solidFill>
                      <a:prstDash val="solid"/>
                      <a:round/>
                      <a:headEnd type="none" w="med" len="med"/>
                      <a:tailEnd type="none" w="med" len="med"/>
                    </a:lnB>
                  </a:tcPr>
                </a:tc>
                <a:tc>
                  <a:txBody>
                    <a:bodyPr/>
                    <a:lstStyle/>
                    <a:p>
                      <a:pPr indent="0" marL="0">
                        <a:buNone/>
                      </a:pPr>
                      <a:r>
                        <a:rPr lang="en-US" sz="1150" dirty="0">
                          <a:solidFill>
                            <a:srgbClr val="2A3639"/>
                          </a:solidFill>
                          <a:latin typeface="Arial" pitchFamily="34" charset="0"/>
                          <a:ea typeface="Arial" pitchFamily="34" charset="-122"/>
                          <a:cs typeface="Arial" pitchFamily="34" charset="-120"/>
                        </a:rPr>
                        <a:t>Parses, and every field sits inside its enum</a:t>
                      </a:r>
                      <a:endParaRPr lang="en-US" sz="1150" dirty="0">
                        <a:latin typeface="Arial" charset="0"/>
                        <a:ea typeface="Arial" charset="0"/>
                        <a:cs typeface="Arial" charset="0"/>
                      </a:endParaRPr>
                    </a:p>
                  </a:txBody>
                  <a:tcPr marL="76200" marR="76200" marT="76200" marB="76200" anchor="ctr">
                    <a:lnL w="6350" cap="flat" cmpd="sng" algn="ctr">
                      <a:solidFill>
                        <a:srgbClr val="C7CDC6"/>
                      </a:solidFill>
                      <a:prstDash val="solid"/>
                      <a:round/>
                      <a:headEnd type="none" w="med" len="med"/>
                      <a:tailEnd type="none" w="med" len="med"/>
                    </a:lnL>
                    <a:lnR w="6350" cap="flat" cmpd="sng" algn="ctr">
                      <a:solidFill>
                        <a:srgbClr val="C7CDC6"/>
                      </a:solidFill>
                      <a:prstDash val="solid"/>
                      <a:round/>
                      <a:headEnd type="none" w="med" len="med"/>
                      <a:tailEnd type="none" w="med" len="med"/>
                    </a:lnR>
                    <a:lnT w="6350" cap="flat" cmpd="sng" algn="ctr">
                      <a:solidFill>
                        <a:srgbClr val="C7CDC6"/>
                      </a:solidFill>
                      <a:prstDash val="solid"/>
                      <a:round/>
                      <a:headEnd type="none" w="med" len="med"/>
                      <a:tailEnd type="none" w="med" len="med"/>
                    </a:lnT>
                    <a:lnB w="6350" cap="flat" cmpd="sng" algn="ctr">
                      <a:solidFill>
                        <a:srgbClr val="C7CDC6"/>
                      </a:solidFill>
                      <a:prstDash val="solid"/>
                      <a:round/>
                      <a:headEnd type="none" w="med" len="med"/>
                      <a:tailEnd type="none" w="med" len="med"/>
                    </a:lnB>
                  </a:tcPr>
                </a:tc>
              </a:tr>
              <a:tr h="384048">
                <a:tc>
                  <a:txBody>
                    <a:bodyPr/>
                    <a:lstStyle/>
                    <a:p>
                      <a:pPr indent="0" marL="0">
                        <a:buNone/>
                      </a:pPr>
                      <a:r>
                        <a:rPr lang="en-US" sz="1150" b="1" dirty="0">
                          <a:solidFill>
                            <a:srgbClr val="12181A"/>
                          </a:solidFill>
                          <a:latin typeface="Arial" pitchFamily="34" charset="0"/>
                          <a:ea typeface="Arial" pitchFamily="34" charset="-122"/>
                          <a:cs typeface="Arial" pitchFamily="34" charset="-120"/>
                        </a:rPr>
                        <a:t>Intent exact</a:t>
                      </a:r>
                      <a:endParaRPr lang="en-US" sz="1150" dirty="0">
                        <a:latin typeface="Arial" charset="0"/>
                        <a:ea typeface="Arial" charset="0"/>
                        <a:cs typeface="Arial" charset="0"/>
                      </a:endParaRPr>
                    </a:p>
                  </a:txBody>
                  <a:tcPr marL="76200" marR="76200" marT="76200" marB="76200" anchor="ctr">
                    <a:lnL w="6350" cap="flat" cmpd="sng" algn="ctr">
                      <a:solidFill>
                        <a:srgbClr val="C7CDC6"/>
                      </a:solidFill>
                      <a:prstDash val="solid"/>
                      <a:round/>
                      <a:headEnd type="none" w="med" len="med"/>
                      <a:tailEnd type="none" w="med" len="med"/>
                    </a:lnL>
                    <a:lnR w="6350" cap="flat" cmpd="sng" algn="ctr">
                      <a:solidFill>
                        <a:srgbClr val="C7CDC6"/>
                      </a:solidFill>
                      <a:prstDash val="solid"/>
                      <a:round/>
                      <a:headEnd type="none" w="med" len="med"/>
                      <a:tailEnd type="none" w="med" len="med"/>
                    </a:lnR>
                    <a:lnT w="6350" cap="flat" cmpd="sng" algn="ctr">
                      <a:solidFill>
                        <a:srgbClr val="C7CDC6"/>
                      </a:solidFill>
                      <a:prstDash val="solid"/>
                      <a:round/>
                      <a:headEnd type="none" w="med" len="med"/>
                      <a:tailEnd type="none" w="med" len="med"/>
                    </a:lnT>
                    <a:lnB w="6350" cap="flat" cmpd="sng" algn="ctr">
                      <a:solidFill>
                        <a:srgbClr val="C7CDC6"/>
                      </a:solidFill>
                      <a:prstDash val="solid"/>
                      <a:round/>
                      <a:headEnd type="none" w="med" len="med"/>
                      <a:tailEnd type="none" w="med" len="med"/>
                    </a:lnB>
                  </a:tcPr>
                </a:tc>
                <a:tc>
                  <a:txBody>
                    <a:bodyPr/>
                    <a:lstStyle/>
                    <a:p>
                      <a:pPr indent="0" marL="0">
                        <a:buNone/>
                      </a:pPr>
                      <a:r>
                        <a:rPr lang="en-US" sz="1150" dirty="0">
                          <a:solidFill>
                            <a:srgbClr val="2A3639"/>
                          </a:solidFill>
                          <a:latin typeface="Arial" pitchFamily="34" charset="0"/>
                          <a:ea typeface="Arial" pitchFamily="34" charset="-122"/>
                          <a:cs typeface="Arial" pitchFamily="34" charset="-120"/>
                        </a:rPr>
                        <a:t>25%</a:t>
                      </a:r>
                      <a:endParaRPr lang="en-US" sz="1150" dirty="0">
                        <a:latin typeface="Arial" charset="0"/>
                        <a:ea typeface="Arial" charset="0"/>
                        <a:cs typeface="Arial" charset="0"/>
                      </a:endParaRPr>
                    </a:p>
                  </a:txBody>
                  <a:tcPr marL="76200" marR="76200" marT="76200" marB="76200" anchor="ctr">
                    <a:lnL w="6350" cap="flat" cmpd="sng" algn="ctr">
                      <a:solidFill>
                        <a:srgbClr val="C7CDC6"/>
                      </a:solidFill>
                      <a:prstDash val="solid"/>
                      <a:round/>
                      <a:headEnd type="none" w="med" len="med"/>
                      <a:tailEnd type="none" w="med" len="med"/>
                    </a:lnL>
                    <a:lnR w="6350" cap="flat" cmpd="sng" algn="ctr">
                      <a:solidFill>
                        <a:srgbClr val="C7CDC6"/>
                      </a:solidFill>
                      <a:prstDash val="solid"/>
                      <a:round/>
                      <a:headEnd type="none" w="med" len="med"/>
                      <a:tailEnd type="none" w="med" len="med"/>
                    </a:lnR>
                    <a:lnT w="6350" cap="flat" cmpd="sng" algn="ctr">
                      <a:solidFill>
                        <a:srgbClr val="C7CDC6"/>
                      </a:solidFill>
                      <a:prstDash val="solid"/>
                      <a:round/>
                      <a:headEnd type="none" w="med" len="med"/>
                      <a:tailEnd type="none" w="med" len="med"/>
                    </a:lnT>
                    <a:lnB w="6350" cap="flat" cmpd="sng" algn="ctr">
                      <a:solidFill>
                        <a:srgbClr val="C7CDC6"/>
                      </a:solidFill>
                      <a:prstDash val="solid"/>
                      <a:round/>
                      <a:headEnd type="none" w="med" len="med"/>
                      <a:tailEnd type="none" w="med" len="med"/>
                    </a:lnB>
                  </a:tcPr>
                </a:tc>
                <a:tc>
                  <a:txBody>
                    <a:bodyPr/>
                    <a:lstStyle/>
                    <a:p>
                      <a:pPr indent="0" marL="0">
                        <a:buNone/>
                      </a:pPr>
                      <a:r>
                        <a:rPr lang="en-US" sz="1150" dirty="0">
                          <a:solidFill>
                            <a:srgbClr val="2A3639"/>
                          </a:solidFill>
                          <a:latin typeface="Arial" pitchFamily="34" charset="0"/>
                          <a:ea typeface="Arial" pitchFamily="34" charset="-122"/>
                          <a:cs typeface="Arial" pitchFamily="34" charset="-120"/>
                        </a:rPr>
                        <a:t>Exact match against the hand-set label</a:t>
                      </a:r>
                      <a:endParaRPr lang="en-US" sz="1150" dirty="0">
                        <a:latin typeface="Arial" charset="0"/>
                        <a:ea typeface="Arial" charset="0"/>
                        <a:cs typeface="Arial" charset="0"/>
                      </a:endParaRPr>
                    </a:p>
                  </a:txBody>
                  <a:tcPr marL="76200" marR="76200" marT="76200" marB="76200" anchor="ctr">
                    <a:lnL w="6350" cap="flat" cmpd="sng" algn="ctr">
                      <a:solidFill>
                        <a:srgbClr val="C7CDC6"/>
                      </a:solidFill>
                      <a:prstDash val="solid"/>
                      <a:round/>
                      <a:headEnd type="none" w="med" len="med"/>
                      <a:tailEnd type="none" w="med" len="med"/>
                    </a:lnL>
                    <a:lnR w="6350" cap="flat" cmpd="sng" algn="ctr">
                      <a:solidFill>
                        <a:srgbClr val="C7CDC6"/>
                      </a:solidFill>
                      <a:prstDash val="solid"/>
                      <a:round/>
                      <a:headEnd type="none" w="med" len="med"/>
                      <a:tailEnd type="none" w="med" len="med"/>
                    </a:lnR>
                    <a:lnT w="6350" cap="flat" cmpd="sng" algn="ctr">
                      <a:solidFill>
                        <a:srgbClr val="C7CDC6"/>
                      </a:solidFill>
                      <a:prstDash val="solid"/>
                      <a:round/>
                      <a:headEnd type="none" w="med" len="med"/>
                      <a:tailEnd type="none" w="med" len="med"/>
                    </a:lnT>
                    <a:lnB w="6350" cap="flat" cmpd="sng" algn="ctr">
                      <a:solidFill>
                        <a:srgbClr val="C7CDC6"/>
                      </a:solidFill>
                      <a:prstDash val="solid"/>
                      <a:round/>
                      <a:headEnd type="none" w="med" len="med"/>
                      <a:tailEnd type="none" w="med" len="med"/>
                    </a:lnB>
                  </a:tcPr>
                </a:tc>
              </a:tr>
              <a:tr h="384048">
                <a:tc>
                  <a:txBody>
                    <a:bodyPr/>
                    <a:lstStyle/>
                    <a:p>
                      <a:pPr indent="0" marL="0">
                        <a:buNone/>
                      </a:pPr>
                      <a:r>
                        <a:rPr lang="en-US" sz="1150" b="1" dirty="0">
                          <a:solidFill>
                            <a:srgbClr val="12181A"/>
                          </a:solidFill>
                          <a:latin typeface="Arial" pitchFamily="34" charset="0"/>
                          <a:ea typeface="Arial" pitchFamily="34" charset="-122"/>
                          <a:cs typeface="Arial" pitchFamily="34" charset="-120"/>
                        </a:rPr>
                        <a:t>Entity F1</a:t>
                      </a:r>
                      <a:endParaRPr lang="en-US" sz="1150" dirty="0">
                        <a:latin typeface="Arial" charset="0"/>
                        <a:ea typeface="Arial" charset="0"/>
                        <a:cs typeface="Arial" charset="0"/>
                      </a:endParaRPr>
                    </a:p>
                  </a:txBody>
                  <a:tcPr marL="76200" marR="76200" marT="76200" marB="76200" anchor="ctr">
                    <a:lnL w="6350" cap="flat" cmpd="sng" algn="ctr">
                      <a:solidFill>
                        <a:srgbClr val="C7CDC6"/>
                      </a:solidFill>
                      <a:prstDash val="solid"/>
                      <a:round/>
                      <a:headEnd type="none" w="med" len="med"/>
                      <a:tailEnd type="none" w="med" len="med"/>
                    </a:lnL>
                    <a:lnR w="6350" cap="flat" cmpd="sng" algn="ctr">
                      <a:solidFill>
                        <a:srgbClr val="C7CDC6"/>
                      </a:solidFill>
                      <a:prstDash val="solid"/>
                      <a:round/>
                      <a:headEnd type="none" w="med" len="med"/>
                      <a:tailEnd type="none" w="med" len="med"/>
                    </a:lnR>
                    <a:lnT w="6350" cap="flat" cmpd="sng" algn="ctr">
                      <a:solidFill>
                        <a:srgbClr val="C7CDC6"/>
                      </a:solidFill>
                      <a:prstDash val="solid"/>
                      <a:round/>
                      <a:headEnd type="none" w="med" len="med"/>
                      <a:tailEnd type="none" w="med" len="med"/>
                    </a:lnT>
                    <a:lnB w="6350" cap="flat" cmpd="sng" algn="ctr">
                      <a:solidFill>
                        <a:srgbClr val="C7CDC6"/>
                      </a:solidFill>
                      <a:prstDash val="solid"/>
                      <a:round/>
                      <a:headEnd type="none" w="med" len="med"/>
                      <a:tailEnd type="none" w="med" len="med"/>
                    </a:lnB>
                  </a:tcPr>
                </a:tc>
                <a:tc>
                  <a:txBody>
                    <a:bodyPr/>
                    <a:lstStyle/>
                    <a:p>
                      <a:pPr indent="0" marL="0">
                        <a:buNone/>
                      </a:pPr>
                      <a:r>
                        <a:rPr lang="en-US" sz="1150" dirty="0">
                          <a:solidFill>
                            <a:srgbClr val="2A3639"/>
                          </a:solidFill>
                          <a:latin typeface="Arial" pitchFamily="34" charset="0"/>
                          <a:ea typeface="Arial" pitchFamily="34" charset="-122"/>
                          <a:cs typeface="Arial" pitchFamily="34" charset="-120"/>
                        </a:rPr>
                        <a:t>20%</a:t>
                      </a:r>
                      <a:endParaRPr lang="en-US" sz="1150" dirty="0">
                        <a:latin typeface="Arial" charset="0"/>
                        <a:ea typeface="Arial" charset="0"/>
                        <a:cs typeface="Arial" charset="0"/>
                      </a:endParaRPr>
                    </a:p>
                  </a:txBody>
                  <a:tcPr marL="76200" marR="76200" marT="76200" marB="76200" anchor="ctr">
                    <a:lnL w="6350" cap="flat" cmpd="sng" algn="ctr">
                      <a:solidFill>
                        <a:srgbClr val="C7CDC6"/>
                      </a:solidFill>
                      <a:prstDash val="solid"/>
                      <a:round/>
                      <a:headEnd type="none" w="med" len="med"/>
                      <a:tailEnd type="none" w="med" len="med"/>
                    </a:lnL>
                    <a:lnR w="6350" cap="flat" cmpd="sng" algn="ctr">
                      <a:solidFill>
                        <a:srgbClr val="C7CDC6"/>
                      </a:solidFill>
                      <a:prstDash val="solid"/>
                      <a:round/>
                      <a:headEnd type="none" w="med" len="med"/>
                      <a:tailEnd type="none" w="med" len="med"/>
                    </a:lnR>
                    <a:lnT w="6350" cap="flat" cmpd="sng" algn="ctr">
                      <a:solidFill>
                        <a:srgbClr val="C7CDC6"/>
                      </a:solidFill>
                      <a:prstDash val="solid"/>
                      <a:round/>
                      <a:headEnd type="none" w="med" len="med"/>
                      <a:tailEnd type="none" w="med" len="med"/>
                    </a:lnT>
                    <a:lnB w="6350" cap="flat" cmpd="sng" algn="ctr">
                      <a:solidFill>
                        <a:srgbClr val="C7CDC6"/>
                      </a:solidFill>
                      <a:prstDash val="solid"/>
                      <a:round/>
                      <a:headEnd type="none" w="med" len="med"/>
                      <a:tailEnd type="none" w="med" len="med"/>
                    </a:lnB>
                  </a:tcPr>
                </a:tc>
                <a:tc>
                  <a:txBody>
                    <a:bodyPr/>
                    <a:lstStyle/>
                    <a:p>
                      <a:pPr indent="0" marL="0">
                        <a:buNone/>
                      </a:pPr>
                      <a:r>
                        <a:rPr lang="en-US" sz="1150" dirty="0">
                          <a:solidFill>
                            <a:srgbClr val="2A3639"/>
                          </a:solidFill>
                          <a:latin typeface="Arial" pitchFamily="34" charset="0"/>
                          <a:ea typeface="Arial" pitchFamily="34" charset="-122"/>
                          <a:cs typeface="Arial" pitchFamily="34" charset="-120"/>
                        </a:rPr>
                        <a:t>Tracking number, city, cash-on-delivery amount</a:t>
                      </a:r>
                      <a:endParaRPr lang="en-US" sz="1150" dirty="0">
                        <a:latin typeface="Arial" charset="0"/>
                        <a:ea typeface="Arial" charset="0"/>
                        <a:cs typeface="Arial" charset="0"/>
                      </a:endParaRPr>
                    </a:p>
                  </a:txBody>
                  <a:tcPr marL="76200" marR="76200" marT="76200" marB="76200" anchor="ctr">
                    <a:lnL w="6350" cap="flat" cmpd="sng" algn="ctr">
                      <a:solidFill>
                        <a:srgbClr val="C7CDC6"/>
                      </a:solidFill>
                      <a:prstDash val="solid"/>
                      <a:round/>
                      <a:headEnd type="none" w="med" len="med"/>
                      <a:tailEnd type="none" w="med" len="med"/>
                    </a:lnL>
                    <a:lnR w="6350" cap="flat" cmpd="sng" algn="ctr">
                      <a:solidFill>
                        <a:srgbClr val="C7CDC6"/>
                      </a:solidFill>
                      <a:prstDash val="solid"/>
                      <a:round/>
                      <a:headEnd type="none" w="med" len="med"/>
                      <a:tailEnd type="none" w="med" len="med"/>
                    </a:lnR>
                    <a:lnT w="6350" cap="flat" cmpd="sng" algn="ctr">
                      <a:solidFill>
                        <a:srgbClr val="C7CDC6"/>
                      </a:solidFill>
                      <a:prstDash val="solid"/>
                      <a:round/>
                      <a:headEnd type="none" w="med" len="med"/>
                      <a:tailEnd type="none" w="med" len="med"/>
                    </a:lnT>
                    <a:lnB w="6350" cap="flat" cmpd="sng" algn="ctr">
                      <a:solidFill>
                        <a:srgbClr val="C7CDC6"/>
                      </a:solidFill>
                      <a:prstDash val="solid"/>
                      <a:round/>
                      <a:headEnd type="none" w="med" len="med"/>
                      <a:tailEnd type="none" w="med" len="med"/>
                    </a:lnB>
                  </a:tcPr>
                </a:tc>
              </a:tr>
              <a:tr h="384048">
                <a:tc>
                  <a:txBody>
                    <a:bodyPr/>
                    <a:lstStyle/>
                    <a:p>
                      <a:pPr indent="0" marL="0">
                        <a:buNone/>
                      </a:pPr>
                      <a:r>
                        <a:rPr lang="en-US" sz="1150" b="1" dirty="0">
                          <a:solidFill>
                            <a:srgbClr val="12181A"/>
                          </a:solidFill>
                          <a:latin typeface="Arial" pitchFamily="34" charset="0"/>
                          <a:ea typeface="Arial" pitchFamily="34" charset="-122"/>
                          <a:cs typeface="Arial" pitchFamily="34" charset="-120"/>
                        </a:rPr>
                        <a:t>Action exact</a:t>
                      </a:r>
                      <a:endParaRPr lang="en-US" sz="1150" dirty="0">
                        <a:latin typeface="Arial" charset="0"/>
                        <a:ea typeface="Arial" charset="0"/>
                        <a:cs typeface="Arial" charset="0"/>
                      </a:endParaRPr>
                    </a:p>
                  </a:txBody>
                  <a:tcPr marL="76200" marR="76200" marT="76200" marB="76200" anchor="ctr">
                    <a:lnL w="6350" cap="flat" cmpd="sng" algn="ctr">
                      <a:solidFill>
                        <a:srgbClr val="C7CDC6"/>
                      </a:solidFill>
                      <a:prstDash val="solid"/>
                      <a:round/>
                      <a:headEnd type="none" w="med" len="med"/>
                      <a:tailEnd type="none" w="med" len="med"/>
                    </a:lnL>
                    <a:lnR w="6350" cap="flat" cmpd="sng" algn="ctr">
                      <a:solidFill>
                        <a:srgbClr val="C7CDC6"/>
                      </a:solidFill>
                      <a:prstDash val="solid"/>
                      <a:round/>
                      <a:headEnd type="none" w="med" len="med"/>
                      <a:tailEnd type="none" w="med" len="med"/>
                    </a:lnR>
                    <a:lnT w="6350" cap="flat" cmpd="sng" algn="ctr">
                      <a:solidFill>
                        <a:srgbClr val="C7CDC6"/>
                      </a:solidFill>
                      <a:prstDash val="solid"/>
                      <a:round/>
                      <a:headEnd type="none" w="med" len="med"/>
                      <a:tailEnd type="none" w="med" len="med"/>
                    </a:lnT>
                    <a:lnB w="6350" cap="flat" cmpd="sng" algn="ctr">
                      <a:solidFill>
                        <a:srgbClr val="C7CDC6"/>
                      </a:solidFill>
                      <a:prstDash val="solid"/>
                      <a:round/>
                      <a:headEnd type="none" w="med" len="med"/>
                      <a:tailEnd type="none" w="med" len="med"/>
                    </a:lnB>
                  </a:tcPr>
                </a:tc>
                <a:tc>
                  <a:txBody>
                    <a:bodyPr/>
                    <a:lstStyle/>
                    <a:p>
                      <a:pPr indent="0" marL="0">
                        <a:buNone/>
                      </a:pPr>
                      <a:r>
                        <a:rPr lang="en-US" sz="1150" dirty="0">
                          <a:solidFill>
                            <a:srgbClr val="2A3639"/>
                          </a:solidFill>
                          <a:latin typeface="Arial" pitchFamily="34" charset="0"/>
                          <a:ea typeface="Arial" pitchFamily="34" charset="-122"/>
                          <a:cs typeface="Arial" pitchFamily="34" charset="-120"/>
                        </a:rPr>
                        <a:t>15%</a:t>
                      </a:r>
                      <a:endParaRPr lang="en-US" sz="1150" dirty="0">
                        <a:latin typeface="Arial" charset="0"/>
                        <a:ea typeface="Arial" charset="0"/>
                        <a:cs typeface="Arial" charset="0"/>
                      </a:endParaRPr>
                    </a:p>
                  </a:txBody>
                  <a:tcPr marL="76200" marR="76200" marT="76200" marB="76200" anchor="ctr">
                    <a:lnL w="6350" cap="flat" cmpd="sng" algn="ctr">
                      <a:solidFill>
                        <a:srgbClr val="C7CDC6"/>
                      </a:solidFill>
                      <a:prstDash val="solid"/>
                      <a:round/>
                      <a:headEnd type="none" w="med" len="med"/>
                      <a:tailEnd type="none" w="med" len="med"/>
                    </a:lnL>
                    <a:lnR w="6350" cap="flat" cmpd="sng" algn="ctr">
                      <a:solidFill>
                        <a:srgbClr val="C7CDC6"/>
                      </a:solidFill>
                      <a:prstDash val="solid"/>
                      <a:round/>
                      <a:headEnd type="none" w="med" len="med"/>
                      <a:tailEnd type="none" w="med" len="med"/>
                    </a:lnR>
                    <a:lnT w="6350" cap="flat" cmpd="sng" algn="ctr">
                      <a:solidFill>
                        <a:srgbClr val="C7CDC6"/>
                      </a:solidFill>
                      <a:prstDash val="solid"/>
                      <a:round/>
                      <a:headEnd type="none" w="med" len="med"/>
                      <a:tailEnd type="none" w="med" len="med"/>
                    </a:lnT>
                    <a:lnB w="6350" cap="flat" cmpd="sng" algn="ctr">
                      <a:solidFill>
                        <a:srgbClr val="C7CDC6"/>
                      </a:solidFill>
                      <a:prstDash val="solid"/>
                      <a:round/>
                      <a:headEnd type="none" w="med" len="med"/>
                      <a:tailEnd type="none" w="med" len="med"/>
                    </a:lnB>
                  </a:tcPr>
                </a:tc>
                <a:tc>
                  <a:txBody>
                    <a:bodyPr/>
                    <a:lstStyle/>
                    <a:p>
                      <a:pPr indent="0" marL="0">
                        <a:buNone/>
                      </a:pPr>
                      <a:r>
                        <a:rPr lang="en-US" sz="1150" dirty="0">
                          <a:solidFill>
                            <a:srgbClr val="2A3639"/>
                          </a:solidFill>
                          <a:latin typeface="Arial" pitchFamily="34" charset="0"/>
                          <a:ea typeface="Arial" pitchFamily="34" charset="-122"/>
                          <a:cs typeface="Arial" pitchFamily="34" charset="-120"/>
                        </a:rPr>
                        <a:t>The routing decision, which decides who sees the ticket</a:t>
                      </a:r>
                      <a:endParaRPr lang="en-US" sz="1150" dirty="0">
                        <a:latin typeface="Arial" charset="0"/>
                        <a:ea typeface="Arial" charset="0"/>
                        <a:cs typeface="Arial" charset="0"/>
                      </a:endParaRPr>
                    </a:p>
                  </a:txBody>
                  <a:tcPr marL="76200" marR="76200" marT="76200" marB="76200" anchor="ctr">
                    <a:lnL w="6350" cap="flat" cmpd="sng" algn="ctr">
                      <a:solidFill>
                        <a:srgbClr val="C7CDC6"/>
                      </a:solidFill>
                      <a:prstDash val="solid"/>
                      <a:round/>
                      <a:headEnd type="none" w="med" len="med"/>
                      <a:tailEnd type="none" w="med" len="med"/>
                    </a:lnL>
                    <a:lnR w="6350" cap="flat" cmpd="sng" algn="ctr">
                      <a:solidFill>
                        <a:srgbClr val="C7CDC6"/>
                      </a:solidFill>
                      <a:prstDash val="solid"/>
                      <a:round/>
                      <a:headEnd type="none" w="med" len="med"/>
                      <a:tailEnd type="none" w="med" len="med"/>
                    </a:lnR>
                    <a:lnT w="6350" cap="flat" cmpd="sng" algn="ctr">
                      <a:solidFill>
                        <a:srgbClr val="C7CDC6"/>
                      </a:solidFill>
                      <a:prstDash val="solid"/>
                      <a:round/>
                      <a:headEnd type="none" w="med" len="med"/>
                      <a:tailEnd type="none" w="med" len="med"/>
                    </a:lnT>
                    <a:lnB w="6350" cap="flat" cmpd="sng" algn="ctr">
                      <a:solidFill>
                        <a:srgbClr val="C7CDC6"/>
                      </a:solidFill>
                      <a:prstDash val="solid"/>
                      <a:round/>
                      <a:headEnd type="none" w="med" len="med"/>
                      <a:tailEnd type="none" w="med" len="med"/>
                    </a:lnB>
                  </a:tcPr>
                </a:tc>
              </a:tr>
              <a:tr h="384048">
                <a:tc>
                  <a:txBody>
                    <a:bodyPr/>
                    <a:lstStyle/>
                    <a:p>
                      <a:pPr indent="0" marL="0">
                        <a:buNone/>
                      </a:pPr>
                      <a:r>
                        <a:rPr lang="en-US" sz="1150" b="1" dirty="0">
                          <a:solidFill>
                            <a:srgbClr val="12181A"/>
                          </a:solidFill>
                          <a:latin typeface="Arial" pitchFamily="34" charset="0"/>
                          <a:ea typeface="Arial" pitchFamily="34" charset="-122"/>
                          <a:cs typeface="Arial" pitchFamily="34" charset="-120"/>
                        </a:rPr>
                        <a:t>Grounding</a:t>
                      </a:r>
                      <a:endParaRPr lang="en-US" sz="1150" dirty="0">
                        <a:latin typeface="Arial" charset="0"/>
                        <a:ea typeface="Arial" charset="0"/>
                        <a:cs typeface="Arial" charset="0"/>
                      </a:endParaRPr>
                    </a:p>
                  </a:txBody>
                  <a:tcPr marL="76200" marR="76200" marT="76200" marB="76200" anchor="ctr">
                    <a:lnL w="6350" cap="flat" cmpd="sng" algn="ctr">
                      <a:solidFill>
                        <a:srgbClr val="C7CDC6"/>
                      </a:solidFill>
                      <a:prstDash val="solid"/>
                      <a:round/>
                      <a:headEnd type="none" w="med" len="med"/>
                      <a:tailEnd type="none" w="med" len="med"/>
                    </a:lnL>
                    <a:lnR w="6350" cap="flat" cmpd="sng" algn="ctr">
                      <a:solidFill>
                        <a:srgbClr val="C7CDC6"/>
                      </a:solidFill>
                      <a:prstDash val="solid"/>
                      <a:round/>
                      <a:headEnd type="none" w="med" len="med"/>
                      <a:tailEnd type="none" w="med" len="med"/>
                    </a:lnR>
                    <a:lnT w="6350" cap="flat" cmpd="sng" algn="ctr">
                      <a:solidFill>
                        <a:srgbClr val="C7CDC6"/>
                      </a:solidFill>
                      <a:prstDash val="solid"/>
                      <a:round/>
                      <a:headEnd type="none" w="med" len="med"/>
                      <a:tailEnd type="none" w="med" len="med"/>
                    </a:lnT>
                    <a:lnB w="6350" cap="flat" cmpd="sng" algn="ctr">
                      <a:solidFill>
                        <a:srgbClr val="C7CDC6"/>
                      </a:solidFill>
                      <a:prstDash val="solid"/>
                      <a:round/>
                      <a:headEnd type="none" w="med" len="med"/>
                      <a:tailEnd type="none" w="med" len="med"/>
                    </a:lnB>
                  </a:tcPr>
                </a:tc>
                <a:tc>
                  <a:txBody>
                    <a:bodyPr/>
                    <a:lstStyle/>
                    <a:p>
                      <a:pPr indent="0" marL="0">
                        <a:buNone/>
                      </a:pPr>
                      <a:r>
                        <a:rPr lang="en-US" sz="1150" dirty="0">
                          <a:solidFill>
                            <a:srgbClr val="2A3639"/>
                          </a:solidFill>
                          <a:latin typeface="Arial" pitchFamily="34" charset="0"/>
                          <a:ea typeface="Arial" pitchFamily="34" charset="-122"/>
                          <a:cs typeface="Arial" pitchFamily="34" charset="-120"/>
                        </a:rPr>
                        <a:t>10%</a:t>
                      </a:r>
                      <a:endParaRPr lang="en-US" sz="1150" dirty="0">
                        <a:latin typeface="Arial" charset="0"/>
                        <a:ea typeface="Arial" charset="0"/>
                        <a:cs typeface="Arial" charset="0"/>
                      </a:endParaRPr>
                    </a:p>
                  </a:txBody>
                  <a:tcPr marL="76200" marR="76200" marT="76200" marB="76200" anchor="ctr">
                    <a:lnL w="6350" cap="flat" cmpd="sng" algn="ctr">
                      <a:solidFill>
                        <a:srgbClr val="C7CDC6"/>
                      </a:solidFill>
                      <a:prstDash val="solid"/>
                      <a:round/>
                      <a:headEnd type="none" w="med" len="med"/>
                      <a:tailEnd type="none" w="med" len="med"/>
                    </a:lnL>
                    <a:lnR w="6350" cap="flat" cmpd="sng" algn="ctr">
                      <a:solidFill>
                        <a:srgbClr val="C7CDC6"/>
                      </a:solidFill>
                      <a:prstDash val="solid"/>
                      <a:round/>
                      <a:headEnd type="none" w="med" len="med"/>
                      <a:tailEnd type="none" w="med" len="med"/>
                    </a:lnR>
                    <a:lnT w="6350" cap="flat" cmpd="sng" algn="ctr">
                      <a:solidFill>
                        <a:srgbClr val="C7CDC6"/>
                      </a:solidFill>
                      <a:prstDash val="solid"/>
                      <a:round/>
                      <a:headEnd type="none" w="med" len="med"/>
                      <a:tailEnd type="none" w="med" len="med"/>
                    </a:lnT>
                    <a:lnB w="6350" cap="flat" cmpd="sng" algn="ctr">
                      <a:solidFill>
                        <a:srgbClr val="C7CDC6"/>
                      </a:solidFill>
                      <a:prstDash val="solid"/>
                      <a:round/>
                      <a:headEnd type="none" w="med" len="med"/>
                      <a:tailEnd type="none" w="med" len="med"/>
                    </a:lnB>
                  </a:tcPr>
                </a:tc>
                <a:tc>
                  <a:txBody>
                    <a:bodyPr/>
                    <a:lstStyle/>
                    <a:p>
                      <a:pPr indent="0" marL="0">
                        <a:buNone/>
                      </a:pPr>
                      <a:r>
                        <a:rPr lang="en-US" sz="1150" dirty="0">
                          <a:solidFill>
                            <a:srgbClr val="2A3639"/>
                          </a:solidFill>
                          <a:latin typeface="Arial" pitchFamily="34" charset="0"/>
                          <a:ea typeface="Arial" pitchFamily="34" charset="-122"/>
                          <a:cs typeface="Arial" pitchFamily="34" charset="-120"/>
                        </a:rPr>
                        <a:t>Zero if the reply contains anything from that case's banned list</a:t>
                      </a:r>
                      <a:endParaRPr lang="en-US" sz="1150" dirty="0">
                        <a:latin typeface="Arial" charset="0"/>
                        <a:ea typeface="Arial" charset="0"/>
                        <a:cs typeface="Arial" charset="0"/>
                      </a:endParaRPr>
                    </a:p>
                  </a:txBody>
                  <a:tcPr marL="76200" marR="76200" marT="76200" marB="76200" anchor="ctr">
                    <a:lnL w="6350" cap="flat" cmpd="sng" algn="ctr">
                      <a:solidFill>
                        <a:srgbClr val="C7CDC6"/>
                      </a:solidFill>
                      <a:prstDash val="solid"/>
                      <a:round/>
                      <a:headEnd type="none" w="med" len="med"/>
                      <a:tailEnd type="none" w="med" len="med"/>
                    </a:lnL>
                    <a:lnR w="6350" cap="flat" cmpd="sng" algn="ctr">
                      <a:solidFill>
                        <a:srgbClr val="C7CDC6"/>
                      </a:solidFill>
                      <a:prstDash val="solid"/>
                      <a:round/>
                      <a:headEnd type="none" w="med" len="med"/>
                      <a:tailEnd type="none" w="med" len="med"/>
                    </a:lnR>
                    <a:lnT w="6350" cap="flat" cmpd="sng" algn="ctr">
                      <a:solidFill>
                        <a:srgbClr val="C7CDC6"/>
                      </a:solidFill>
                      <a:prstDash val="solid"/>
                      <a:round/>
                      <a:headEnd type="none" w="med" len="med"/>
                      <a:tailEnd type="none" w="med" len="med"/>
                    </a:lnT>
                    <a:lnB w="6350" cap="flat" cmpd="sng" algn="ctr">
                      <a:solidFill>
                        <a:srgbClr val="C7CDC6"/>
                      </a:solidFill>
                      <a:prstDash val="solid"/>
                      <a:round/>
                      <a:headEnd type="none" w="med" len="med"/>
                      <a:tailEnd type="none" w="med" len="med"/>
                    </a:lnB>
                  </a:tcPr>
                </a:tc>
              </a:tr>
              <a:tr h="384048">
                <a:tc>
                  <a:txBody>
                    <a:bodyPr/>
                    <a:lstStyle/>
                    <a:p>
                      <a:pPr indent="0" marL="0">
                        <a:buNone/>
                      </a:pPr>
                      <a:r>
                        <a:rPr lang="en-US" sz="1150" b="1" dirty="0">
                          <a:solidFill>
                            <a:srgbClr val="12181A"/>
                          </a:solidFill>
                          <a:latin typeface="Arial" pitchFamily="34" charset="0"/>
                          <a:ea typeface="Arial" pitchFamily="34" charset="-122"/>
                          <a:cs typeface="Arial" pitchFamily="34" charset="-120"/>
                        </a:rPr>
                        <a:t>Policy facts</a:t>
                      </a:r>
                      <a:endParaRPr lang="en-US" sz="1150" dirty="0">
                        <a:latin typeface="Arial" charset="0"/>
                        <a:ea typeface="Arial" charset="0"/>
                        <a:cs typeface="Arial" charset="0"/>
                      </a:endParaRPr>
                    </a:p>
                  </a:txBody>
                  <a:tcPr marL="76200" marR="76200" marT="76200" marB="76200" anchor="ctr">
                    <a:lnL w="6350" cap="flat" cmpd="sng" algn="ctr">
                      <a:solidFill>
                        <a:srgbClr val="C7CDC6"/>
                      </a:solidFill>
                      <a:prstDash val="solid"/>
                      <a:round/>
                      <a:headEnd type="none" w="med" len="med"/>
                      <a:tailEnd type="none" w="med" len="med"/>
                    </a:lnL>
                    <a:lnR w="6350" cap="flat" cmpd="sng" algn="ctr">
                      <a:solidFill>
                        <a:srgbClr val="C7CDC6"/>
                      </a:solidFill>
                      <a:prstDash val="solid"/>
                      <a:round/>
                      <a:headEnd type="none" w="med" len="med"/>
                      <a:tailEnd type="none" w="med" len="med"/>
                    </a:lnR>
                    <a:lnT w="6350" cap="flat" cmpd="sng" algn="ctr">
                      <a:solidFill>
                        <a:srgbClr val="C7CDC6"/>
                      </a:solidFill>
                      <a:prstDash val="solid"/>
                      <a:round/>
                      <a:headEnd type="none" w="med" len="med"/>
                      <a:tailEnd type="none" w="med" len="med"/>
                    </a:lnT>
                    <a:lnB w="6350" cap="flat" cmpd="sng" algn="ctr">
                      <a:solidFill>
                        <a:srgbClr val="C7CDC6"/>
                      </a:solidFill>
                      <a:prstDash val="solid"/>
                      <a:round/>
                      <a:headEnd type="none" w="med" len="med"/>
                      <a:tailEnd type="none" w="med" len="med"/>
                    </a:lnB>
                  </a:tcPr>
                </a:tc>
                <a:tc>
                  <a:txBody>
                    <a:bodyPr/>
                    <a:lstStyle/>
                    <a:p>
                      <a:pPr indent="0" marL="0">
                        <a:buNone/>
                      </a:pPr>
                      <a:r>
                        <a:rPr lang="en-US" sz="1150" dirty="0">
                          <a:solidFill>
                            <a:srgbClr val="2A3639"/>
                          </a:solidFill>
                          <a:latin typeface="Arial" pitchFamily="34" charset="0"/>
                          <a:ea typeface="Arial" pitchFamily="34" charset="-122"/>
                          <a:cs typeface="Arial" pitchFamily="34" charset="-120"/>
                        </a:rPr>
                        <a:t>10%</a:t>
                      </a:r>
                      <a:endParaRPr lang="en-US" sz="1150" dirty="0">
                        <a:latin typeface="Arial" charset="0"/>
                        <a:ea typeface="Arial" charset="0"/>
                        <a:cs typeface="Arial" charset="0"/>
                      </a:endParaRPr>
                    </a:p>
                  </a:txBody>
                  <a:tcPr marL="76200" marR="76200" marT="76200" marB="76200" anchor="ctr">
                    <a:lnL w="6350" cap="flat" cmpd="sng" algn="ctr">
                      <a:solidFill>
                        <a:srgbClr val="C7CDC6"/>
                      </a:solidFill>
                      <a:prstDash val="solid"/>
                      <a:round/>
                      <a:headEnd type="none" w="med" len="med"/>
                      <a:tailEnd type="none" w="med" len="med"/>
                    </a:lnL>
                    <a:lnR w="6350" cap="flat" cmpd="sng" algn="ctr">
                      <a:solidFill>
                        <a:srgbClr val="C7CDC6"/>
                      </a:solidFill>
                      <a:prstDash val="solid"/>
                      <a:round/>
                      <a:headEnd type="none" w="med" len="med"/>
                      <a:tailEnd type="none" w="med" len="med"/>
                    </a:lnR>
                    <a:lnT w="6350" cap="flat" cmpd="sng" algn="ctr">
                      <a:solidFill>
                        <a:srgbClr val="C7CDC6"/>
                      </a:solidFill>
                      <a:prstDash val="solid"/>
                      <a:round/>
                      <a:headEnd type="none" w="med" len="med"/>
                      <a:tailEnd type="none" w="med" len="med"/>
                    </a:lnT>
                    <a:lnB w="6350" cap="flat" cmpd="sng" algn="ctr">
                      <a:solidFill>
                        <a:srgbClr val="C7CDC6"/>
                      </a:solidFill>
                      <a:prstDash val="solid"/>
                      <a:round/>
                      <a:headEnd type="none" w="med" len="med"/>
                      <a:tailEnd type="none" w="med" len="med"/>
                    </a:lnB>
                  </a:tcPr>
                </a:tc>
                <a:tc>
                  <a:txBody>
                    <a:bodyPr/>
                    <a:lstStyle/>
                    <a:p>
                      <a:pPr indent="0" marL="0">
                        <a:buNone/>
                      </a:pPr>
                      <a:r>
                        <a:rPr lang="en-US" sz="1150" dirty="0">
                          <a:solidFill>
                            <a:srgbClr val="2A3639"/>
                          </a:solidFill>
                          <a:latin typeface="Arial" pitchFamily="34" charset="0"/>
                          <a:ea typeface="Arial" pitchFamily="34" charset="-122"/>
                          <a:cs typeface="Arial" pitchFamily="34" charset="-120"/>
                        </a:rPr>
                        <a:t>Share of required facts present, matched across both languages</a:t>
                      </a:r>
                      <a:endParaRPr lang="en-US" sz="1150" dirty="0">
                        <a:latin typeface="Arial" charset="0"/>
                        <a:ea typeface="Arial" charset="0"/>
                        <a:cs typeface="Arial" charset="0"/>
                      </a:endParaRPr>
                    </a:p>
                  </a:txBody>
                  <a:tcPr marL="76200" marR="76200" marT="76200" marB="76200" anchor="ctr">
                    <a:lnL w="6350" cap="flat" cmpd="sng" algn="ctr">
                      <a:solidFill>
                        <a:srgbClr val="C7CDC6"/>
                      </a:solidFill>
                      <a:prstDash val="solid"/>
                      <a:round/>
                      <a:headEnd type="none" w="med" len="med"/>
                      <a:tailEnd type="none" w="med" len="med"/>
                    </a:lnL>
                    <a:lnR w="6350" cap="flat" cmpd="sng" algn="ctr">
                      <a:solidFill>
                        <a:srgbClr val="C7CDC6"/>
                      </a:solidFill>
                      <a:prstDash val="solid"/>
                      <a:round/>
                      <a:headEnd type="none" w="med" len="med"/>
                      <a:tailEnd type="none" w="med" len="med"/>
                    </a:lnR>
                    <a:lnT w="6350" cap="flat" cmpd="sng" algn="ctr">
                      <a:solidFill>
                        <a:srgbClr val="C7CDC6"/>
                      </a:solidFill>
                      <a:prstDash val="solid"/>
                      <a:round/>
                      <a:headEnd type="none" w="med" len="med"/>
                      <a:tailEnd type="none" w="med" len="med"/>
                    </a:lnT>
                    <a:lnB w="6350" cap="flat" cmpd="sng" algn="ctr">
                      <a:solidFill>
                        <a:srgbClr val="C7CDC6"/>
                      </a:solidFill>
                      <a:prstDash val="solid"/>
                      <a:round/>
                      <a:headEnd type="none" w="med" len="med"/>
                      <a:tailEnd type="none" w="med" len="med"/>
                    </a:lnB>
                  </a:tcPr>
                </a:tc>
              </a:tr>
            </a:tbl>
          </a:graphicData>
        </a:graphic>
      </p:graphicFrame>
      <p:sp>
        <p:nvSpPr>
          <p:cNvPr id="5" name="Shape 2"/>
          <p:cNvSpPr/>
          <p:nvPr/>
        </p:nvSpPr>
        <p:spPr>
          <a:xfrm>
            <a:off x="8046720" y="1783080"/>
            <a:ext cx="3337560" cy="2286000"/>
          </a:xfrm>
          <a:prstGeom prst="rect">
            <a:avLst/>
          </a:prstGeom>
          <a:solidFill>
            <a:srgbClr val="F4F6F3"/>
          </a:solidFill>
          <a:ln w="6350">
            <a:solidFill>
              <a:srgbClr val="C7CDC6"/>
            </a:solidFill>
            <a:prstDash val="solid"/>
          </a:ln>
        </p:spPr>
      </p:sp>
      <p:sp>
        <p:nvSpPr>
          <p:cNvPr id="6" name="Text 3"/>
          <p:cNvSpPr/>
          <p:nvPr/>
        </p:nvSpPr>
        <p:spPr>
          <a:xfrm>
            <a:off x="8275320" y="2011680"/>
            <a:ext cx="2880360" cy="640080"/>
          </a:xfrm>
          <a:prstGeom prst="rect">
            <a:avLst/>
          </a:prstGeom>
          <a:noFill/>
          <a:ln/>
        </p:spPr>
        <p:txBody>
          <a:bodyPr wrap="square" lIns="0" tIns="0" rIns="0" bIns="0" rtlCol="0" anchor="ctr"/>
          <a:lstStyle/>
          <a:p>
            <a:pPr indent="0" marL="0">
              <a:buNone/>
            </a:pPr>
            <a:r>
              <a:rPr lang="en-US" sz="1400" b="1" dirty="0">
                <a:solidFill>
                  <a:srgbClr val="12181A"/>
                </a:solidFill>
                <a:latin typeface="Arial" pitchFamily="34" charset="0"/>
                <a:ea typeface="Arial" pitchFamily="34" charset="-122"/>
                <a:cs typeface="Arial" pitchFamily="34" charset="-120"/>
              </a:rPr>
              <a:t>A reply that does not parse scores zero on all six.</a:t>
            </a:r>
            <a:endParaRPr lang="en-US" sz="1400" dirty="0"/>
          </a:p>
        </p:txBody>
      </p:sp>
      <p:sp>
        <p:nvSpPr>
          <p:cNvPr id="7" name="Text 4"/>
          <p:cNvSpPr/>
          <p:nvPr/>
        </p:nvSpPr>
        <p:spPr>
          <a:xfrm>
            <a:off x="8275320" y="2697480"/>
            <a:ext cx="2880360" cy="1280160"/>
          </a:xfrm>
          <a:prstGeom prst="rect">
            <a:avLst/>
          </a:prstGeom>
          <a:noFill/>
          <a:ln/>
        </p:spPr>
        <p:txBody>
          <a:bodyPr wrap="square" lIns="0" tIns="0" rIns="0" bIns="0" rtlCol="0" anchor="ctr"/>
          <a:lstStyle/>
          <a:p>
            <a:pPr indent="0" marL="0">
              <a:buNone/>
            </a:pPr>
            <a:r>
              <a:rPr lang="en-US" sz="1150" dirty="0">
                <a:solidFill>
                  <a:srgbClr val="2A3639"/>
                </a:solidFill>
                <a:latin typeface="Arial" pitchFamily="34" charset="0"/>
                <a:ea typeface="Arial" pitchFamily="34" charset="-122"/>
                <a:cs typeface="Arial" pitchFamily="34" charset="-120"/>
              </a:rPr>
              <a:t>In production the ticketing system drops it silently, and a dropped ticket is worse than a wrong one because nobody knows it happened.</a:t>
            </a:r>
            <a:endParaRPr lang="en-US" sz="1150" dirty="0"/>
          </a:p>
        </p:txBody>
      </p:sp>
      <p:sp>
        <p:nvSpPr>
          <p:cNvPr id="8" name="Text 5"/>
          <p:cNvSpPr/>
          <p:nvPr/>
        </p:nvSpPr>
        <p:spPr>
          <a:xfrm>
            <a:off x="8046720" y="4343400"/>
            <a:ext cx="3337560" cy="1463040"/>
          </a:xfrm>
          <a:prstGeom prst="rect">
            <a:avLst/>
          </a:prstGeom>
          <a:noFill/>
          <a:ln/>
        </p:spPr>
        <p:txBody>
          <a:bodyPr wrap="square" lIns="0" tIns="0" rIns="0" bIns="0" rtlCol="0" anchor="ctr"/>
          <a:lstStyle/>
          <a:p>
            <a:pPr indent="0" marL="0">
              <a:buNone/>
            </a:pPr>
            <a:r>
              <a:rPr lang="en-US" sz="1150" dirty="0">
                <a:solidFill>
                  <a:srgbClr val="6B7671"/>
                </a:solidFill>
                <a:latin typeface="Arial" pitchFamily="34" charset="0"/>
                <a:ea typeface="Arial" pitchFamily="34" charset="-122"/>
                <a:cs typeface="Arial" pitchFamily="34" charset="-120"/>
              </a:rPr>
              <a:t>Grounding is only ten percent of the composite, which understates it. It is reported on its own line for that reason, and any vendor that invents facts gets discussed on that basis whatever its total says.</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02336"/>
            <a:ext cx="10607040" cy="274320"/>
          </a:xfrm>
          <a:prstGeom prst="rect">
            <a:avLst/>
          </a:prstGeom>
          <a:noFill/>
          <a:ln/>
        </p:spPr>
        <p:txBody>
          <a:bodyPr wrap="square" lIns="0" tIns="0" rIns="0" bIns="0" rtlCol="0" anchor="ctr"/>
          <a:lstStyle/>
          <a:p>
            <a:pPr indent="0" marL="0">
              <a:buNone/>
            </a:pPr>
            <a:r>
              <a:rPr lang="en-US" sz="900" spc="100" kern="0" dirty="0">
                <a:solidFill>
                  <a:srgbClr val="6B7671"/>
                </a:solidFill>
                <a:latin typeface="Courier New" pitchFamily="34" charset="0"/>
                <a:ea typeface="Courier New" pitchFamily="34" charset="-122"/>
                <a:cs typeface="Courier New" pitchFamily="34" charset="-120"/>
              </a:rPr>
              <a:t>0 5</a:t>
            </a:r>
            <a:endParaRPr lang="en-US" sz="900" dirty="0"/>
          </a:p>
        </p:txBody>
      </p:sp>
      <p:sp>
        <p:nvSpPr>
          <p:cNvPr id="3" name="Text 1"/>
          <p:cNvSpPr/>
          <p:nvPr/>
        </p:nvSpPr>
        <p:spPr>
          <a:xfrm>
            <a:off x="777240" y="749808"/>
            <a:ext cx="10607040" cy="914400"/>
          </a:xfrm>
          <a:prstGeom prst="rect">
            <a:avLst/>
          </a:prstGeom>
          <a:noFill/>
          <a:ln/>
        </p:spPr>
        <p:txBody>
          <a:bodyPr wrap="square" lIns="0" tIns="0" rIns="0" bIns="0" rtlCol="0" anchor="t"/>
          <a:lstStyle/>
          <a:p>
            <a:pPr indent="0" marL="0">
              <a:buNone/>
            </a:pPr>
            <a:r>
              <a:rPr lang="en-US" sz="3000" b="1" dirty="0">
                <a:solidFill>
                  <a:srgbClr val="12181A"/>
                </a:solidFill>
                <a:latin typeface="Arial" pitchFamily="34" charset="0"/>
                <a:ea typeface="Arial" pitchFamily="34" charset="-122"/>
                <a:cs typeface="Arial" pitchFamily="34" charset="-120"/>
              </a:rPr>
              <a:t>Keeping it a fair fight</a:t>
            </a:r>
            <a:endParaRPr lang="en-US" sz="3000" dirty="0"/>
          </a:p>
        </p:txBody>
      </p:sp>
      <p:sp>
        <p:nvSpPr>
          <p:cNvPr id="4" name="Shape 2"/>
          <p:cNvSpPr/>
          <p:nvPr/>
        </p:nvSpPr>
        <p:spPr>
          <a:xfrm>
            <a:off x="777240" y="1828800"/>
            <a:ext cx="5120640" cy="1691640"/>
          </a:xfrm>
          <a:prstGeom prst="rect">
            <a:avLst/>
          </a:prstGeom>
          <a:solidFill>
            <a:srgbClr val="F4F6F3"/>
          </a:solidFill>
          <a:ln w="6350">
            <a:solidFill>
              <a:srgbClr val="C7CDC6"/>
            </a:solidFill>
            <a:prstDash val="solid"/>
          </a:ln>
        </p:spPr>
      </p:sp>
      <p:sp>
        <p:nvSpPr>
          <p:cNvPr id="5" name="Text 3"/>
          <p:cNvSpPr/>
          <p:nvPr/>
        </p:nvSpPr>
        <p:spPr>
          <a:xfrm>
            <a:off x="1051560" y="2029968"/>
            <a:ext cx="4572000" cy="320040"/>
          </a:xfrm>
          <a:prstGeom prst="rect">
            <a:avLst/>
          </a:prstGeom>
          <a:noFill/>
          <a:ln/>
        </p:spPr>
        <p:txBody>
          <a:bodyPr wrap="square" lIns="0" tIns="0" rIns="0" bIns="0" rtlCol="0" anchor="ctr"/>
          <a:lstStyle/>
          <a:p>
            <a:pPr indent="0" marL="0">
              <a:buNone/>
            </a:pPr>
            <a:r>
              <a:rPr lang="en-US" sz="1400" b="1" dirty="0">
                <a:solidFill>
                  <a:srgbClr val="12181A"/>
                </a:solidFill>
                <a:latin typeface="Arial" pitchFamily="34" charset="0"/>
                <a:ea typeface="Arial" pitchFamily="34" charset="-122"/>
                <a:cs typeface="Arial" pitchFamily="34" charset="-120"/>
              </a:rPr>
              <a:t>One prompt file</a:t>
            </a:r>
            <a:endParaRPr lang="en-US" sz="1400" dirty="0"/>
          </a:p>
        </p:txBody>
      </p:sp>
      <p:sp>
        <p:nvSpPr>
          <p:cNvPr id="6" name="Text 4"/>
          <p:cNvSpPr/>
          <p:nvPr/>
        </p:nvSpPr>
        <p:spPr>
          <a:xfrm>
            <a:off x="1051560" y="2395728"/>
            <a:ext cx="4572000" cy="1005840"/>
          </a:xfrm>
          <a:prstGeom prst="rect">
            <a:avLst/>
          </a:prstGeom>
          <a:noFill/>
          <a:ln/>
        </p:spPr>
        <p:txBody>
          <a:bodyPr wrap="square" lIns="0" tIns="0" rIns="0" bIns="0" rtlCol="0" anchor="ctr"/>
          <a:lstStyle/>
          <a:p>
            <a:pPr indent="0" marL="0">
              <a:buNone/>
            </a:pPr>
            <a:r>
              <a:rPr lang="en-US" sz="1150" dirty="0">
                <a:solidFill>
                  <a:srgbClr val="2A3639"/>
                </a:solidFill>
                <a:latin typeface="Arial" pitchFamily="34" charset="0"/>
                <a:ea typeface="Arial" pitchFamily="34" charset="-122"/>
                <a:cs typeface="Arial" pitchFamily="34" charset="-120"/>
              </a:rPr>
              <a:t>Read once, hashed, sent byte for byte to all three. The hash prints on the report so nobody has to take it on trust.</a:t>
            </a:r>
            <a:endParaRPr lang="en-US" sz="1150" dirty="0"/>
          </a:p>
        </p:txBody>
      </p:sp>
      <p:sp>
        <p:nvSpPr>
          <p:cNvPr id="7" name="Shape 5"/>
          <p:cNvSpPr/>
          <p:nvPr/>
        </p:nvSpPr>
        <p:spPr>
          <a:xfrm>
            <a:off x="6263640" y="1828800"/>
            <a:ext cx="5120640" cy="1691640"/>
          </a:xfrm>
          <a:prstGeom prst="rect">
            <a:avLst/>
          </a:prstGeom>
          <a:solidFill>
            <a:srgbClr val="F4F6F3"/>
          </a:solidFill>
          <a:ln w="6350">
            <a:solidFill>
              <a:srgbClr val="C7CDC6"/>
            </a:solidFill>
            <a:prstDash val="solid"/>
          </a:ln>
        </p:spPr>
      </p:sp>
      <p:sp>
        <p:nvSpPr>
          <p:cNvPr id="8" name="Text 6"/>
          <p:cNvSpPr/>
          <p:nvPr/>
        </p:nvSpPr>
        <p:spPr>
          <a:xfrm>
            <a:off x="6537960" y="2029968"/>
            <a:ext cx="4572000" cy="320040"/>
          </a:xfrm>
          <a:prstGeom prst="rect">
            <a:avLst/>
          </a:prstGeom>
          <a:noFill/>
          <a:ln/>
        </p:spPr>
        <p:txBody>
          <a:bodyPr wrap="square" lIns="0" tIns="0" rIns="0" bIns="0" rtlCol="0" anchor="ctr"/>
          <a:lstStyle/>
          <a:p>
            <a:pPr indent="0" marL="0">
              <a:buNone/>
            </a:pPr>
            <a:r>
              <a:rPr lang="en-US" sz="1400" b="1" dirty="0">
                <a:solidFill>
                  <a:srgbClr val="12181A"/>
                </a:solidFill>
                <a:latin typeface="Arial" pitchFamily="34" charset="0"/>
                <a:ea typeface="Arial" pitchFamily="34" charset="-122"/>
                <a:cs typeface="Arial" pitchFamily="34" charset="-120"/>
              </a:rPr>
              <a:t>Raw HTTP, not vendor SDKs</a:t>
            </a:r>
            <a:endParaRPr lang="en-US" sz="1400" dirty="0"/>
          </a:p>
        </p:txBody>
      </p:sp>
      <p:sp>
        <p:nvSpPr>
          <p:cNvPr id="9" name="Text 7"/>
          <p:cNvSpPr/>
          <p:nvPr/>
        </p:nvSpPr>
        <p:spPr>
          <a:xfrm>
            <a:off x="6537960" y="2395728"/>
            <a:ext cx="4572000" cy="1005840"/>
          </a:xfrm>
          <a:prstGeom prst="rect">
            <a:avLst/>
          </a:prstGeom>
          <a:noFill/>
          <a:ln/>
        </p:spPr>
        <p:txBody>
          <a:bodyPr wrap="square" lIns="0" tIns="0" rIns="0" bIns="0" rtlCol="0" anchor="ctr"/>
          <a:lstStyle/>
          <a:p>
            <a:pPr indent="0" marL="0">
              <a:buNone/>
            </a:pPr>
            <a:r>
              <a:rPr lang="en-US" sz="1150" dirty="0">
                <a:solidFill>
                  <a:srgbClr val="2A3639"/>
                </a:solidFill>
                <a:latin typeface="Arial" pitchFamily="34" charset="0"/>
                <a:ea typeface="Arial" pitchFamily="34" charset="-122"/>
                <a:cs typeface="Arial" pitchFamily="34" charset="-120"/>
              </a:rPr>
              <a:t>Some SDKs retry internally and some do not. A vendor that retries silently posts better latency for a reason unrelated to its model.</a:t>
            </a:r>
            <a:endParaRPr lang="en-US" sz="1150" dirty="0"/>
          </a:p>
        </p:txBody>
      </p:sp>
      <p:sp>
        <p:nvSpPr>
          <p:cNvPr id="10" name="Shape 8"/>
          <p:cNvSpPr/>
          <p:nvPr/>
        </p:nvSpPr>
        <p:spPr>
          <a:xfrm>
            <a:off x="777240" y="3840480"/>
            <a:ext cx="5120640" cy="1691640"/>
          </a:xfrm>
          <a:prstGeom prst="rect">
            <a:avLst/>
          </a:prstGeom>
          <a:solidFill>
            <a:srgbClr val="F4F6F3"/>
          </a:solidFill>
          <a:ln w="6350">
            <a:solidFill>
              <a:srgbClr val="C7CDC6"/>
            </a:solidFill>
            <a:prstDash val="solid"/>
          </a:ln>
        </p:spPr>
      </p:sp>
      <p:sp>
        <p:nvSpPr>
          <p:cNvPr id="11" name="Text 9"/>
          <p:cNvSpPr/>
          <p:nvPr/>
        </p:nvSpPr>
        <p:spPr>
          <a:xfrm>
            <a:off x="1051560" y="4041648"/>
            <a:ext cx="4572000" cy="320040"/>
          </a:xfrm>
          <a:prstGeom prst="rect">
            <a:avLst/>
          </a:prstGeom>
          <a:noFill/>
          <a:ln/>
        </p:spPr>
        <p:txBody>
          <a:bodyPr wrap="square" lIns="0" tIns="0" rIns="0" bIns="0" rtlCol="0" anchor="ctr"/>
          <a:lstStyle/>
          <a:p>
            <a:pPr indent="0" marL="0">
              <a:buNone/>
            </a:pPr>
            <a:r>
              <a:rPr lang="en-US" sz="1400" b="1" dirty="0">
                <a:solidFill>
                  <a:srgbClr val="12181A"/>
                </a:solidFill>
                <a:latin typeface="Arial" pitchFamily="34" charset="0"/>
                <a:ea typeface="Arial" pitchFamily="34" charset="-122"/>
                <a:cs typeface="Arial" pitchFamily="34" charset="-120"/>
              </a:rPr>
              <a:t>Matched on tier, not on brand</a:t>
            </a:r>
            <a:endParaRPr lang="en-US" sz="1400" dirty="0"/>
          </a:p>
        </p:txBody>
      </p:sp>
      <p:sp>
        <p:nvSpPr>
          <p:cNvPr id="12" name="Text 10"/>
          <p:cNvSpPr/>
          <p:nvPr/>
        </p:nvSpPr>
        <p:spPr>
          <a:xfrm>
            <a:off x="1051560" y="4407408"/>
            <a:ext cx="4572000" cy="1005840"/>
          </a:xfrm>
          <a:prstGeom prst="rect">
            <a:avLst/>
          </a:prstGeom>
          <a:noFill/>
          <a:ln/>
        </p:spPr>
        <p:txBody>
          <a:bodyPr wrap="square" lIns="0" tIns="0" rIns="0" bIns="0" rtlCol="0" anchor="ctr"/>
          <a:lstStyle/>
          <a:p>
            <a:pPr indent="0" marL="0">
              <a:buNone/>
            </a:pPr>
            <a:r>
              <a:rPr lang="en-US" sz="1150" dirty="0">
                <a:solidFill>
                  <a:srgbClr val="2A3639"/>
                </a:solidFill>
                <a:latin typeface="Arial" pitchFamily="34" charset="0"/>
                <a:ea typeface="Arial" pitchFamily="34" charset="-122"/>
                <a:cs typeface="Arial" pitchFamily="34" charset="-120"/>
              </a:rPr>
              <a:t>All three are each vendor's small and fast tier. Comparing a frontier model against a budget one produces a number that looks like a finding and means nothing.</a:t>
            </a:r>
            <a:endParaRPr lang="en-US" sz="1150" dirty="0"/>
          </a:p>
        </p:txBody>
      </p:sp>
      <p:sp>
        <p:nvSpPr>
          <p:cNvPr id="13" name="Shape 11"/>
          <p:cNvSpPr/>
          <p:nvPr/>
        </p:nvSpPr>
        <p:spPr>
          <a:xfrm>
            <a:off x="6263640" y="3840480"/>
            <a:ext cx="5120640" cy="1691640"/>
          </a:xfrm>
          <a:prstGeom prst="rect">
            <a:avLst/>
          </a:prstGeom>
          <a:solidFill>
            <a:srgbClr val="F4F6F3"/>
          </a:solidFill>
          <a:ln w="6350">
            <a:solidFill>
              <a:srgbClr val="C7CDC6"/>
            </a:solidFill>
            <a:prstDash val="solid"/>
          </a:ln>
        </p:spPr>
      </p:sp>
      <p:sp>
        <p:nvSpPr>
          <p:cNvPr id="14" name="Text 12"/>
          <p:cNvSpPr/>
          <p:nvPr/>
        </p:nvSpPr>
        <p:spPr>
          <a:xfrm>
            <a:off x="6537960" y="4041648"/>
            <a:ext cx="4572000" cy="320040"/>
          </a:xfrm>
          <a:prstGeom prst="rect">
            <a:avLst/>
          </a:prstGeom>
          <a:noFill/>
          <a:ln/>
        </p:spPr>
        <p:txBody>
          <a:bodyPr wrap="square" lIns="0" tIns="0" rIns="0" bIns="0" rtlCol="0" anchor="ctr"/>
          <a:lstStyle/>
          <a:p>
            <a:pPr indent="0" marL="0">
              <a:buNone/>
            </a:pPr>
            <a:r>
              <a:rPr lang="en-US" sz="1400" b="1" dirty="0">
                <a:solidFill>
                  <a:srgbClr val="12181A"/>
                </a:solidFill>
                <a:latin typeface="Arial" pitchFamily="34" charset="0"/>
                <a:ea typeface="Arial" pitchFamily="34" charset="-122"/>
                <a:cs typeface="Arial" pitchFamily="34" charset="-120"/>
              </a:rPr>
              <a:t>Temperature zero, three repeats</a:t>
            </a:r>
            <a:endParaRPr lang="en-US" sz="1400" dirty="0"/>
          </a:p>
        </p:txBody>
      </p:sp>
      <p:sp>
        <p:nvSpPr>
          <p:cNvPr id="15" name="Text 13"/>
          <p:cNvSpPr/>
          <p:nvPr/>
        </p:nvSpPr>
        <p:spPr>
          <a:xfrm>
            <a:off x="6537960" y="4407408"/>
            <a:ext cx="4572000" cy="1005840"/>
          </a:xfrm>
          <a:prstGeom prst="rect">
            <a:avLst/>
          </a:prstGeom>
          <a:noFill/>
          <a:ln/>
        </p:spPr>
        <p:txBody>
          <a:bodyPr wrap="square" lIns="0" tIns="0" rIns="0" bIns="0" rtlCol="0" anchor="ctr"/>
          <a:lstStyle/>
          <a:p>
            <a:pPr indent="0" marL="0">
              <a:buNone/>
            </a:pPr>
            <a:r>
              <a:rPr lang="en-US" sz="1150" dirty="0">
                <a:solidFill>
                  <a:srgbClr val="2A3639"/>
                </a:solidFill>
                <a:latin typeface="Arial" pitchFamily="34" charset="0"/>
                <a:ea typeface="Arial" pitchFamily="34" charset="-122"/>
                <a:cs typeface="Arial" pitchFamily="34" charset="-120"/>
              </a:rPr>
              <a:t>Run-to-run variance shows up as a stability number instead of disappearing into an average.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02336"/>
            <a:ext cx="10607040" cy="274320"/>
          </a:xfrm>
          <a:prstGeom prst="rect">
            <a:avLst/>
          </a:prstGeom>
          <a:noFill/>
          <a:ln/>
        </p:spPr>
        <p:txBody>
          <a:bodyPr wrap="square" lIns="0" tIns="0" rIns="0" bIns="0" rtlCol="0" anchor="ctr"/>
          <a:lstStyle/>
          <a:p>
            <a:pPr indent="0" marL="0">
              <a:buNone/>
            </a:pPr>
            <a:r>
              <a:rPr lang="en-US" sz="900" spc="100" kern="0" dirty="0">
                <a:solidFill>
                  <a:srgbClr val="6B7671"/>
                </a:solidFill>
                <a:latin typeface="Courier New" pitchFamily="34" charset="0"/>
                <a:ea typeface="Courier New" pitchFamily="34" charset="-122"/>
                <a:cs typeface="Courier New" pitchFamily="34" charset="-120"/>
              </a:rPr>
              <a:t>0 6</a:t>
            </a:r>
            <a:endParaRPr lang="en-US" sz="900" dirty="0"/>
          </a:p>
        </p:txBody>
      </p:sp>
      <p:sp>
        <p:nvSpPr>
          <p:cNvPr id="3" name="Text 1"/>
          <p:cNvSpPr/>
          <p:nvPr/>
        </p:nvSpPr>
        <p:spPr>
          <a:xfrm>
            <a:off x="777240" y="749808"/>
            <a:ext cx="10607040" cy="914400"/>
          </a:xfrm>
          <a:prstGeom prst="rect">
            <a:avLst/>
          </a:prstGeom>
          <a:noFill/>
          <a:ln/>
        </p:spPr>
        <p:txBody>
          <a:bodyPr wrap="square" lIns="0" tIns="0" rIns="0" bIns="0" rtlCol="0" anchor="t"/>
          <a:lstStyle/>
          <a:p>
            <a:pPr indent="0" marL="0">
              <a:buNone/>
            </a:pPr>
            <a:r>
              <a:rPr lang="en-US" sz="3000" b="1" dirty="0">
                <a:solidFill>
                  <a:srgbClr val="12181A"/>
                </a:solidFill>
                <a:latin typeface="Arial" pitchFamily="34" charset="0"/>
                <a:ea typeface="Arial" pitchFamily="34" charset="-122"/>
                <a:cs typeface="Arial" pitchFamily="34" charset="-120"/>
              </a:rPr>
              <a:t>Four axes, and the weights are arguable</a:t>
            </a:r>
            <a:endParaRPr lang="en-US" sz="3000" dirty="0"/>
          </a:p>
        </p:txBody>
      </p:sp>
      <p:graphicFrame>
        <p:nvGraphicFramePr>
          <p:cNvPr id="4" name="Chart 0" descr=""/>
          <p:cNvGraphicFramePr/>
          <p:nvPr/>
        </p:nvGraphicFramePr>
        <p:xfrm>
          <a:off x="777240" y="1828800"/>
          <a:ext cx="5486400" cy="35661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675120" y="1828800"/>
            <a:ext cx="4709160" cy="822960"/>
          </a:xfrm>
          <a:prstGeom prst="rect">
            <a:avLst/>
          </a:prstGeom>
          <a:noFill/>
          <a:ln/>
        </p:spPr>
        <p:txBody>
          <a:bodyPr wrap="square" lIns="0" tIns="0" rIns="0" bIns="0" rtlCol="0" anchor="ctr"/>
          <a:lstStyle/>
          <a:p>
            <a:pPr indent="0" marL="0">
              <a:buNone/>
            </a:pPr>
            <a:r>
              <a:rPr lang="en-US" sz="1350" dirty="0">
                <a:solidFill>
                  <a:srgbClr val="2A3639"/>
                </a:solidFill>
                <a:latin typeface="Arial" pitchFamily="34" charset="0"/>
                <a:ea typeface="Arial" pitchFamily="34" charset="-122"/>
                <a:cs typeface="Arial" pitchFamily="34" charset="-120"/>
              </a:rPr>
              <a:t>Anyone can object that the weights were chosen to produce a preferred answer. So the ranking gets recomputed under five profiles.</a:t>
            </a:r>
            <a:endParaRPr lang="en-US" sz="1350" dirty="0"/>
          </a:p>
        </p:txBody>
      </p:sp>
      <p:sp>
        <p:nvSpPr>
          <p:cNvPr id="6" name="Text 3"/>
          <p:cNvSpPr/>
          <p:nvPr/>
        </p:nvSpPr>
        <p:spPr>
          <a:xfrm>
            <a:off x="6675120" y="2880360"/>
            <a:ext cx="4709160" cy="347472"/>
          </a:xfrm>
          <a:prstGeom prst="rect">
            <a:avLst/>
          </a:prstGeom>
          <a:noFill/>
          <a:ln/>
        </p:spPr>
        <p:txBody>
          <a:bodyPr wrap="square" lIns="0" tIns="0" rIns="0" bIns="0" rtlCol="0" anchor="ctr"/>
          <a:lstStyle/>
          <a:p>
            <a:pPr indent="0" marL="0">
              <a:buNone/>
            </a:pPr>
            <a:r>
              <a:rPr lang="en-US" sz="1200" dirty="0">
                <a:solidFill>
                  <a:srgbClr val="12181A"/>
                </a:solidFill>
                <a:latin typeface="Courier New" pitchFamily="34" charset="0"/>
                <a:ea typeface="Courier New" pitchFamily="34" charset="-122"/>
                <a:cs typeface="Courier New" pitchFamily="34" charset="-120"/>
              </a:rPr>
              <a:t>As specified</a:t>
            </a:r>
            <a:endParaRPr lang="en-US" sz="1200" dirty="0"/>
          </a:p>
        </p:txBody>
      </p:sp>
      <p:sp>
        <p:nvSpPr>
          <p:cNvPr id="7" name="Text 4"/>
          <p:cNvSpPr/>
          <p:nvPr/>
        </p:nvSpPr>
        <p:spPr>
          <a:xfrm>
            <a:off x="6675120" y="3282696"/>
            <a:ext cx="4709160" cy="347472"/>
          </a:xfrm>
          <a:prstGeom prst="rect">
            <a:avLst/>
          </a:prstGeom>
          <a:noFill/>
          <a:ln/>
        </p:spPr>
        <p:txBody>
          <a:bodyPr wrap="square" lIns="0" tIns="0" rIns="0" bIns="0" rtlCol="0" anchor="ctr"/>
          <a:lstStyle/>
          <a:p>
            <a:pPr indent="0" marL="0">
              <a:buNone/>
            </a:pPr>
            <a:r>
              <a:rPr lang="en-US" sz="1200" dirty="0">
                <a:solidFill>
                  <a:srgbClr val="12181A"/>
                </a:solidFill>
                <a:latin typeface="Courier New" pitchFamily="34" charset="0"/>
                <a:ea typeface="Courier New" pitchFamily="34" charset="-122"/>
                <a:cs typeface="Courier New" pitchFamily="34" charset="-120"/>
              </a:rPr>
              <a:t>Accuracy first</a:t>
            </a:r>
            <a:endParaRPr lang="en-US" sz="1200" dirty="0"/>
          </a:p>
        </p:txBody>
      </p:sp>
      <p:sp>
        <p:nvSpPr>
          <p:cNvPr id="8" name="Text 5"/>
          <p:cNvSpPr/>
          <p:nvPr/>
        </p:nvSpPr>
        <p:spPr>
          <a:xfrm>
            <a:off x="6675120" y="3685032"/>
            <a:ext cx="4709160" cy="347472"/>
          </a:xfrm>
          <a:prstGeom prst="rect">
            <a:avLst/>
          </a:prstGeom>
          <a:noFill/>
          <a:ln/>
        </p:spPr>
        <p:txBody>
          <a:bodyPr wrap="square" lIns="0" tIns="0" rIns="0" bIns="0" rtlCol="0" anchor="ctr"/>
          <a:lstStyle/>
          <a:p>
            <a:pPr indent="0" marL="0">
              <a:buNone/>
            </a:pPr>
            <a:r>
              <a:rPr lang="en-US" sz="1200" dirty="0">
                <a:solidFill>
                  <a:srgbClr val="12181A"/>
                </a:solidFill>
                <a:latin typeface="Courier New" pitchFamily="34" charset="0"/>
                <a:ea typeface="Courier New" pitchFamily="34" charset="-122"/>
                <a:cs typeface="Courier New" pitchFamily="34" charset="-120"/>
              </a:rPr>
              <a:t>Cost first</a:t>
            </a:r>
            <a:endParaRPr lang="en-US" sz="1200" dirty="0"/>
          </a:p>
        </p:txBody>
      </p:sp>
      <p:sp>
        <p:nvSpPr>
          <p:cNvPr id="9" name="Text 6"/>
          <p:cNvSpPr/>
          <p:nvPr/>
        </p:nvSpPr>
        <p:spPr>
          <a:xfrm>
            <a:off x="6675120" y="4087368"/>
            <a:ext cx="4709160" cy="347472"/>
          </a:xfrm>
          <a:prstGeom prst="rect">
            <a:avLst/>
          </a:prstGeom>
          <a:noFill/>
          <a:ln/>
        </p:spPr>
        <p:txBody>
          <a:bodyPr wrap="square" lIns="0" tIns="0" rIns="0" bIns="0" rtlCol="0" anchor="ctr"/>
          <a:lstStyle/>
          <a:p>
            <a:pPr indent="0" marL="0">
              <a:buNone/>
            </a:pPr>
            <a:r>
              <a:rPr lang="en-US" sz="1200" dirty="0">
                <a:solidFill>
                  <a:srgbClr val="12181A"/>
                </a:solidFill>
                <a:latin typeface="Courier New" pitchFamily="34" charset="0"/>
                <a:ea typeface="Courier New" pitchFamily="34" charset="-122"/>
                <a:cs typeface="Courier New" pitchFamily="34" charset="-120"/>
              </a:rPr>
              <a:t>Speed first</a:t>
            </a:r>
            <a:endParaRPr lang="en-US" sz="1200" dirty="0"/>
          </a:p>
        </p:txBody>
      </p:sp>
      <p:sp>
        <p:nvSpPr>
          <p:cNvPr id="10" name="Text 7"/>
          <p:cNvSpPr/>
          <p:nvPr/>
        </p:nvSpPr>
        <p:spPr>
          <a:xfrm>
            <a:off x="6675120" y="4489704"/>
            <a:ext cx="4709160" cy="347472"/>
          </a:xfrm>
          <a:prstGeom prst="rect">
            <a:avLst/>
          </a:prstGeom>
          <a:noFill/>
          <a:ln/>
        </p:spPr>
        <p:txBody>
          <a:bodyPr wrap="square" lIns="0" tIns="0" rIns="0" bIns="0" rtlCol="0" anchor="ctr"/>
          <a:lstStyle/>
          <a:p>
            <a:pPr indent="0" marL="0">
              <a:buNone/>
            </a:pPr>
            <a:r>
              <a:rPr lang="en-US" sz="1200" dirty="0">
                <a:solidFill>
                  <a:srgbClr val="12181A"/>
                </a:solidFill>
                <a:latin typeface="Courier New" pitchFamily="34" charset="0"/>
                <a:ea typeface="Courier New" pitchFamily="34" charset="-122"/>
                <a:cs typeface="Courier New" pitchFamily="34" charset="-120"/>
              </a:rPr>
              <a:t>Equal weights</a:t>
            </a:r>
            <a:endParaRPr lang="en-US" sz="1200" dirty="0"/>
          </a:p>
        </p:txBody>
      </p:sp>
      <p:sp>
        <p:nvSpPr>
          <p:cNvPr id="11" name="Text 8"/>
          <p:cNvSpPr/>
          <p:nvPr/>
        </p:nvSpPr>
        <p:spPr>
          <a:xfrm>
            <a:off x="6675120" y="5029200"/>
            <a:ext cx="4709160" cy="1005840"/>
          </a:xfrm>
          <a:prstGeom prst="rect">
            <a:avLst/>
          </a:prstGeom>
          <a:noFill/>
          <a:ln/>
        </p:spPr>
        <p:txBody>
          <a:bodyPr wrap="square" lIns="0" tIns="0" rIns="0" bIns="0" rtlCol="0" anchor="ctr"/>
          <a:lstStyle/>
          <a:p>
            <a:pPr indent="0" marL="0">
              <a:buNone/>
            </a:pPr>
            <a:r>
              <a:rPr lang="en-US" sz="1150" dirty="0">
                <a:solidFill>
                  <a:srgbClr val="6B7671"/>
                </a:solidFill>
                <a:latin typeface="Arial" pitchFamily="34" charset="0"/>
                <a:ea typeface="Arial" pitchFamily="34" charset="-122"/>
                <a:cs typeface="Arial" pitchFamily="34" charset="-120"/>
              </a:rPr>
              <a:t>If the same vendor wins all five, the recommendation survives disagreement about priorities. If it does not, the memo names the assumption the decision rests on instead of hiding it.</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81A"/>
        </a:solidFill>
      </p:bgPr>
    </p:bg>
    <p:spTree>
      <p:nvGrpSpPr>
        <p:cNvPr id="1" name=""/>
        <p:cNvGrpSpPr/>
        <p:nvPr/>
      </p:nvGrpSpPr>
      <p:grpSpPr>
        <a:xfrm>
          <a:off x="0" y="0"/>
          <a:ext cx="0" cy="0"/>
          <a:chOff x="0" y="0"/>
          <a:chExt cx="0" cy="0"/>
        </a:xfrm>
      </p:grpSpPr>
      <p:sp>
        <p:nvSpPr>
          <p:cNvPr id="2" name="Text 0"/>
          <p:cNvSpPr/>
          <p:nvPr/>
        </p:nvSpPr>
        <p:spPr>
          <a:xfrm>
            <a:off x="777240" y="402336"/>
            <a:ext cx="10607040" cy="274320"/>
          </a:xfrm>
          <a:prstGeom prst="rect">
            <a:avLst/>
          </a:prstGeom>
          <a:noFill/>
          <a:ln/>
        </p:spPr>
        <p:txBody>
          <a:bodyPr wrap="square" lIns="0" tIns="0" rIns="0" bIns="0" rtlCol="0" anchor="ctr"/>
          <a:lstStyle/>
          <a:p>
            <a:pPr indent="0" marL="0">
              <a:buNone/>
            </a:pPr>
            <a:r>
              <a:rPr lang="en-US" sz="900" spc="100" kern="0" dirty="0">
                <a:solidFill>
                  <a:srgbClr val="8FA096"/>
                </a:solidFill>
                <a:latin typeface="Courier New" pitchFamily="34" charset="0"/>
                <a:ea typeface="Courier New" pitchFamily="34" charset="-122"/>
                <a:cs typeface="Courier New" pitchFamily="34" charset="-120"/>
              </a:rPr>
              <a:t>0 7</a:t>
            </a:r>
            <a:endParaRPr lang="en-US" sz="900" dirty="0"/>
          </a:p>
        </p:txBody>
      </p:sp>
      <p:sp>
        <p:nvSpPr>
          <p:cNvPr id="3" name="Text 1"/>
          <p:cNvSpPr/>
          <p:nvPr/>
        </p:nvSpPr>
        <p:spPr>
          <a:xfrm>
            <a:off x="777240" y="749808"/>
            <a:ext cx="10607040" cy="914400"/>
          </a:xfrm>
          <a:prstGeom prst="rect">
            <a:avLst/>
          </a:prstGeom>
          <a:noFill/>
          <a:ln/>
        </p:spPr>
        <p:txBody>
          <a:bodyPr wrap="square" lIns="0" tIns="0" rIns="0" bIns="0" rtlCol="0" anchor="t"/>
          <a:lstStyle/>
          <a:p>
            <a:pPr indent="0" marL="0">
              <a:buNone/>
            </a:pPr>
            <a:r>
              <a:rPr lang="en-US" sz="3000" b="1" dirty="0">
                <a:solidFill>
                  <a:srgbClr val="FFFFFF"/>
                </a:solidFill>
                <a:latin typeface="Arial" pitchFamily="34" charset="0"/>
                <a:ea typeface="Arial" pitchFamily="34" charset="-122"/>
                <a:cs typeface="Arial" pitchFamily="34" charset="-120"/>
              </a:rPr>
              <a:t>Results, pending the live run</a:t>
            </a:r>
            <a:endParaRPr lang="en-US" sz="3000" dirty="0"/>
          </a:p>
        </p:txBody>
      </p:sp>
      <p:sp>
        <p:nvSpPr>
          <p:cNvPr id="4" name="Text 2"/>
          <p:cNvSpPr/>
          <p:nvPr/>
        </p:nvSpPr>
        <p:spPr>
          <a:xfrm>
            <a:off x="777240" y="1828800"/>
            <a:ext cx="5852160" cy="1280160"/>
          </a:xfrm>
          <a:prstGeom prst="rect">
            <a:avLst/>
          </a:prstGeom>
          <a:noFill/>
          <a:ln/>
        </p:spPr>
        <p:txBody>
          <a:bodyPr wrap="square" lIns="0" tIns="0" rIns="0" bIns="0" rtlCol="0" anchor="ctr"/>
          <a:lstStyle/>
          <a:p>
            <a:pPr indent="0" marL="0">
              <a:buNone/>
            </a:pPr>
            <a:r>
              <a:rPr lang="en-US" sz="1400" dirty="0">
                <a:solidFill>
                  <a:srgbClr val="9DAEA3"/>
                </a:solidFill>
                <a:latin typeface="Arial" pitchFamily="34" charset="0"/>
                <a:ea typeface="Arial" pitchFamily="34" charset="-122"/>
                <a:cs typeface="Arial" pitchFamily="34" charset="-120"/>
              </a:rPr>
              <a:t>The harness, the test set, the scoring, the dashboard, and the memo are built and tested. The benchmark itself needs live keys on all three vendor accounts, and that run has not happened yet.</a:t>
            </a:r>
            <a:endParaRPr lang="en-US" sz="1400" dirty="0"/>
          </a:p>
        </p:txBody>
      </p:sp>
      <p:sp>
        <p:nvSpPr>
          <p:cNvPr id="5" name="Text 3"/>
          <p:cNvSpPr/>
          <p:nvPr/>
        </p:nvSpPr>
        <p:spPr>
          <a:xfrm>
            <a:off x="777240" y="3291840"/>
            <a:ext cx="5852160" cy="91440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I did not fill the gap with invented numbers. A report that looks finished and is not measured is worth less than one that says so.</a:t>
            </a:r>
            <a:endParaRPr lang="en-US" sz="1400" dirty="0"/>
          </a:p>
        </p:txBody>
      </p:sp>
      <p:sp>
        <p:nvSpPr>
          <p:cNvPr id="6" name="Shape 4"/>
          <p:cNvSpPr/>
          <p:nvPr/>
        </p:nvSpPr>
        <p:spPr>
          <a:xfrm>
            <a:off x="6858000" y="1783080"/>
            <a:ext cx="4526280" cy="3108960"/>
          </a:xfrm>
          <a:prstGeom prst="rect">
            <a:avLst/>
          </a:prstGeom>
          <a:solidFill>
            <a:srgbClr val="1F2C2F"/>
          </a:solidFill>
          <a:ln w="6350">
            <a:solidFill>
              <a:srgbClr val="C7CDC6"/>
            </a:solidFill>
            <a:prstDash val="solid"/>
          </a:ln>
        </p:spPr>
      </p:sp>
      <p:sp>
        <p:nvSpPr>
          <p:cNvPr id="7" name="Text 5"/>
          <p:cNvSpPr/>
          <p:nvPr/>
        </p:nvSpPr>
        <p:spPr>
          <a:xfrm>
            <a:off x="7132320" y="2011680"/>
            <a:ext cx="4023360" cy="320040"/>
          </a:xfrm>
          <a:prstGeom prst="rect">
            <a:avLst/>
          </a:prstGeom>
          <a:noFill/>
          <a:ln/>
        </p:spPr>
        <p:txBody>
          <a:bodyPr wrap="square" lIns="0" tIns="0" rIns="0" bIns="0" rtlCol="0" anchor="ctr"/>
          <a:lstStyle/>
          <a:p>
            <a:pPr indent="0" marL="0">
              <a:buNone/>
            </a:pPr>
            <a:r>
              <a:rPr lang="en-US" sz="1100" dirty="0">
                <a:solidFill>
                  <a:srgbClr val="8FA096"/>
                </a:solidFill>
                <a:latin typeface="Courier New" pitchFamily="34" charset="0"/>
                <a:ea typeface="Courier New" pitchFamily="34" charset="-122"/>
                <a:cs typeface="Courier New" pitchFamily="34" charset="-120"/>
              </a:rPr>
              <a:t>Fills automatically from one run</a:t>
            </a:r>
            <a:endParaRPr lang="en-US" sz="1100" dirty="0"/>
          </a:p>
        </p:txBody>
      </p:sp>
      <p:sp>
        <p:nvSpPr>
          <p:cNvPr id="8" name="Text 6"/>
          <p:cNvSpPr/>
          <p:nvPr/>
        </p:nvSpPr>
        <p:spPr>
          <a:xfrm>
            <a:off x="7132320" y="2487168"/>
            <a:ext cx="4023360" cy="402336"/>
          </a:xfrm>
          <a:prstGeom prst="rect">
            <a:avLst/>
          </a:prstGeom>
          <a:noFill/>
          <a:ln/>
        </p:spPr>
        <p:txBody>
          <a:bodyPr wrap="square" lIns="0" tIns="0" rIns="0" bIns="0" rtlCol="0" anchor="ctr"/>
          <a:lstStyle/>
          <a:p>
            <a:pPr indent="0" marL="0">
              <a:buNone/>
            </a:pPr>
            <a:r>
              <a:rPr lang="en-US" sz="1200" dirty="0">
                <a:solidFill>
                  <a:srgbClr val="E9EDE8"/>
                </a:solidFill>
                <a:latin typeface="Arial" pitchFamily="34" charset="0"/>
                <a:ea typeface="Arial" pitchFamily="34" charset="-122"/>
                <a:cs typeface="Arial" pitchFamily="34" charset="-120"/>
              </a:rPr>
              <a:t>Comparison table, twenty rows</a:t>
            </a:r>
            <a:endParaRPr lang="en-US" sz="1200" dirty="0"/>
          </a:p>
        </p:txBody>
      </p:sp>
      <p:sp>
        <p:nvSpPr>
          <p:cNvPr id="9" name="Text 7"/>
          <p:cNvSpPr/>
          <p:nvPr/>
        </p:nvSpPr>
        <p:spPr>
          <a:xfrm>
            <a:off x="7132320" y="2944368"/>
            <a:ext cx="4023360" cy="402336"/>
          </a:xfrm>
          <a:prstGeom prst="rect">
            <a:avLst/>
          </a:prstGeom>
          <a:noFill/>
          <a:ln/>
        </p:spPr>
        <p:txBody>
          <a:bodyPr wrap="square" lIns="0" tIns="0" rIns="0" bIns="0" rtlCol="0" anchor="ctr"/>
          <a:lstStyle/>
          <a:p>
            <a:pPr indent="0" marL="0">
              <a:buNone/>
            </a:pPr>
            <a:r>
              <a:rPr lang="en-US" sz="1200" dirty="0">
                <a:solidFill>
                  <a:srgbClr val="E9EDE8"/>
                </a:solidFill>
                <a:latin typeface="Arial" pitchFamily="34" charset="0"/>
                <a:ea typeface="Arial" pitchFamily="34" charset="-122"/>
                <a:cs typeface="Arial" pitchFamily="34" charset="-120"/>
              </a:rPr>
              <a:t>Sample outputs, all three side by side</a:t>
            </a:r>
            <a:endParaRPr lang="en-US" sz="1200" dirty="0"/>
          </a:p>
        </p:txBody>
      </p:sp>
      <p:sp>
        <p:nvSpPr>
          <p:cNvPr id="10" name="Text 8"/>
          <p:cNvSpPr/>
          <p:nvPr/>
        </p:nvSpPr>
        <p:spPr>
          <a:xfrm>
            <a:off x="7132320" y="3401568"/>
            <a:ext cx="4023360" cy="402336"/>
          </a:xfrm>
          <a:prstGeom prst="rect">
            <a:avLst/>
          </a:prstGeom>
          <a:noFill/>
          <a:ln/>
        </p:spPr>
        <p:txBody>
          <a:bodyPr wrap="square" lIns="0" tIns="0" rIns="0" bIns="0" rtlCol="0" anchor="ctr"/>
          <a:lstStyle/>
          <a:p>
            <a:pPr indent="0" marL="0">
              <a:buNone/>
            </a:pPr>
            <a:r>
              <a:rPr lang="en-US" sz="1200" dirty="0">
                <a:solidFill>
                  <a:srgbClr val="E9EDE8"/>
                </a:solidFill>
                <a:latin typeface="Arial" pitchFamily="34" charset="0"/>
                <a:ea typeface="Arial" pitchFamily="34" charset="-122"/>
                <a:cs typeface="Arial" pitchFamily="34" charset="-120"/>
              </a:rPr>
              <a:t>Latency percentiles and cost per thousand calls</a:t>
            </a:r>
            <a:endParaRPr lang="en-US" sz="1200" dirty="0"/>
          </a:p>
        </p:txBody>
      </p:sp>
      <p:sp>
        <p:nvSpPr>
          <p:cNvPr id="11" name="Text 9"/>
          <p:cNvSpPr/>
          <p:nvPr/>
        </p:nvSpPr>
        <p:spPr>
          <a:xfrm>
            <a:off x="7132320" y="3858768"/>
            <a:ext cx="4023360" cy="402336"/>
          </a:xfrm>
          <a:prstGeom prst="rect">
            <a:avLst/>
          </a:prstGeom>
          <a:noFill/>
          <a:ln/>
        </p:spPr>
        <p:txBody>
          <a:bodyPr wrap="square" lIns="0" tIns="0" rIns="0" bIns="0" rtlCol="0" anchor="ctr"/>
          <a:lstStyle/>
          <a:p>
            <a:pPr indent="0" marL="0">
              <a:buNone/>
            </a:pPr>
            <a:r>
              <a:rPr lang="en-US" sz="1200" dirty="0">
                <a:solidFill>
                  <a:srgbClr val="E9EDE8"/>
                </a:solidFill>
                <a:latin typeface="Arial" pitchFamily="34" charset="0"/>
                <a:ea typeface="Arial" pitchFamily="34" charset="-122"/>
                <a:cs typeface="Arial" pitchFamily="34" charset="-120"/>
              </a:rPr>
              <a:t>Failure log, by failure type</a:t>
            </a:r>
            <a:endParaRPr lang="en-US" sz="1200" dirty="0"/>
          </a:p>
        </p:txBody>
      </p:sp>
      <p:sp>
        <p:nvSpPr>
          <p:cNvPr id="12" name="Text 10"/>
          <p:cNvSpPr/>
          <p:nvPr/>
        </p:nvSpPr>
        <p:spPr>
          <a:xfrm>
            <a:off x="7132320" y="4315968"/>
            <a:ext cx="4023360" cy="402336"/>
          </a:xfrm>
          <a:prstGeom prst="rect">
            <a:avLst/>
          </a:prstGeom>
          <a:noFill/>
          <a:ln/>
        </p:spPr>
        <p:txBody>
          <a:bodyPr wrap="square" lIns="0" tIns="0" rIns="0" bIns="0" rtlCol="0" anchor="ctr"/>
          <a:lstStyle/>
          <a:p>
            <a:pPr indent="0" marL="0">
              <a:buNone/>
            </a:pPr>
            <a:r>
              <a:rPr lang="en-US" sz="1200" dirty="0">
                <a:solidFill>
                  <a:srgbClr val="E9EDE8"/>
                </a:solidFill>
                <a:latin typeface="Arial" pitchFamily="34" charset="0"/>
                <a:ea typeface="Arial" pitchFamily="34" charset="-122"/>
                <a:cs typeface="Arial" pitchFamily="34" charset="-120"/>
              </a:rPr>
              <a:t>Integration rubric, scored by hand</a:t>
            </a:r>
            <a:endParaRPr lang="en-US" sz="1200" dirty="0"/>
          </a:p>
        </p:txBody>
      </p:sp>
      <p:sp>
        <p:nvSpPr>
          <p:cNvPr id="13" name="Text 11"/>
          <p:cNvSpPr/>
          <p:nvPr/>
        </p:nvSpPr>
        <p:spPr>
          <a:xfrm>
            <a:off x="777240" y="5212080"/>
            <a:ext cx="10607040" cy="914400"/>
          </a:xfrm>
          <a:prstGeom prst="rect">
            <a:avLst/>
          </a:prstGeom>
          <a:noFill/>
          <a:ln/>
        </p:spPr>
        <p:txBody>
          <a:bodyPr wrap="square" lIns="0" tIns="0" rIns="0" bIns="0" rtlCol="0" anchor="ctr"/>
          <a:lstStyle/>
          <a:p>
            <a:pPr indent="0" marL="0">
              <a:buNone/>
            </a:pPr>
            <a:r>
              <a:rPr lang="en-US" sz="1250" dirty="0">
                <a:solidFill>
                  <a:srgbClr val="9DAEA3"/>
                </a:solidFill>
                <a:latin typeface="Arial" pitchFamily="34" charset="0"/>
                <a:ea typeface="Arial" pitchFamily="34" charset="-122"/>
                <a:cs typeface="Arial" pitchFamily="34" charset="-120"/>
              </a:rPr>
              <a:t>And a caveat that stays true whatever the numbers say: thirty cases gives a confidence interval about fifteen points wide. Two vendors within ten points of each other are a tie, and no decimal places change that.</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02336"/>
            <a:ext cx="10607040" cy="274320"/>
          </a:xfrm>
          <a:prstGeom prst="rect">
            <a:avLst/>
          </a:prstGeom>
          <a:noFill/>
          <a:ln/>
        </p:spPr>
        <p:txBody>
          <a:bodyPr wrap="square" lIns="0" tIns="0" rIns="0" bIns="0" rtlCol="0" anchor="ctr"/>
          <a:lstStyle/>
          <a:p>
            <a:pPr indent="0" marL="0">
              <a:buNone/>
            </a:pPr>
            <a:r>
              <a:rPr lang="en-US" sz="900" spc="100" kern="0" dirty="0">
                <a:solidFill>
                  <a:srgbClr val="6B7671"/>
                </a:solidFill>
                <a:latin typeface="Courier New" pitchFamily="34" charset="0"/>
                <a:ea typeface="Courier New" pitchFamily="34" charset="-122"/>
                <a:cs typeface="Courier New" pitchFamily="34" charset="-120"/>
              </a:rPr>
              <a:t>0 8</a:t>
            </a:r>
            <a:endParaRPr lang="en-US" sz="900" dirty="0"/>
          </a:p>
        </p:txBody>
      </p:sp>
      <p:sp>
        <p:nvSpPr>
          <p:cNvPr id="3" name="Text 1"/>
          <p:cNvSpPr/>
          <p:nvPr/>
        </p:nvSpPr>
        <p:spPr>
          <a:xfrm>
            <a:off x="777240" y="749808"/>
            <a:ext cx="10607040" cy="914400"/>
          </a:xfrm>
          <a:prstGeom prst="rect">
            <a:avLst/>
          </a:prstGeom>
          <a:noFill/>
          <a:ln/>
        </p:spPr>
        <p:txBody>
          <a:bodyPr wrap="square" lIns="0" tIns="0" rIns="0" bIns="0" rtlCol="0" anchor="t"/>
          <a:lstStyle/>
          <a:p>
            <a:pPr indent="0" marL="0">
              <a:buNone/>
            </a:pPr>
            <a:r>
              <a:rPr lang="en-US" sz="3000" b="1" dirty="0">
                <a:solidFill>
                  <a:srgbClr val="12181A"/>
                </a:solidFill>
                <a:latin typeface="Arial" pitchFamily="34" charset="0"/>
                <a:ea typeface="Arial" pitchFamily="34" charset="-122"/>
                <a:cs typeface="Arial" pitchFamily="34" charset="-120"/>
              </a:rPr>
              <a:t>What went wrong, and what I did about it</a:t>
            </a:r>
            <a:endParaRPr lang="en-US" sz="3000" dirty="0"/>
          </a:p>
        </p:txBody>
      </p:sp>
      <p:sp>
        <p:nvSpPr>
          <p:cNvPr id="4" name="Text 2"/>
          <p:cNvSpPr/>
          <p:nvPr/>
        </p:nvSpPr>
        <p:spPr>
          <a:xfrm>
            <a:off x="777240" y="1783080"/>
            <a:ext cx="5120640" cy="685800"/>
          </a:xfrm>
          <a:prstGeom prst="rect">
            <a:avLst/>
          </a:prstGeom>
          <a:noFill/>
          <a:ln/>
        </p:spPr>
        <p:txBody>
          <a:bodyPr wrap="square" lIns="0" tIns="0" rIns="0" bIns="0" rtlCol="0" anchor="ctr"/>
          <a:lstStyle/>
          <a:p>
            <a:pPr indent="0" marL="0">
              <a:buNone/>
            </a:pPr>
            <a:r>
              <a:rPr lang="en-US" sz="1250" b="1" dirty="0">
                <a:solidFill>
                  <a:srgbClr val="A32A1F"/>
                </a:solidFill>
                <a:latin typeface="Arial" pitchFamily="34" charset="0"/>
                <a:ea typeface="Arial" pitchFamily="34" charset="-122"/>
                <a:cs typeface="Arial" pitchFamily="34" charset="-120"/>
              </a:rPr>
              <a:t>English keyword matching failed Roman Urdu replies</a:t>
            </a:r>
            <a:endParaRPr lang="en-US" sz="1250" dirty="0"/>
          </a:p>
        </p:txBody>
      </p:sp>
      <p:sp>
        <p:nvSpPr>
          <p:cNvPr id="5" name="Text 3"/>
          <p:cNvSpPr/>
          <p:nvPr/>
        </p:nvSpPr>
        <p:spPr>
          <a:xfrm>
            <a:off x="6172200" y="1783080"/>
            <a:ext cx="5212080" cy="822960"/>
          </a:xfrm>
          <a:prstGeom prst="rect">
            <a:avLst/>
          </a:prstGeom>
          <a:noFill/>
          <a:ln/>
        </p:spPr>
        <p:txBody>
          <a:bodyPr wrap="square" lIns="0" tIns="0" rIns="0" bIns="0" rtlCol="0" anchor="ctr"/>
          <a:lstStyle/>
          <a:p>
            <a:pPr indent="0" marL="0">
              <a:buNone/>
            </a:pPr>
            <a:r>
              <a:rPr lang="en-US" sz="1200" dirty="0">
                <a:solidFill>
                  <a:srgbClr val="0B6E4F"/>
                </a:solidFill>
                <a:latin typeface="Arial" pitchFamily="34" charset="0"/>
                <a:ea typeface="Arial" pitchFamily="34" charset="-122"/>
                <a:cs typeface="Arial" pitchFamily="34" charset="-120"/>
              </a:rPr>
              <a:t>Every required fact became a set of acceptable surface forms across both languages.</a:t>
            </a:r>
            <a:endParaRPr lang="en-US" sz="1200" dirty="0"/>
          </a:p>
        </p:txBody>
      </p:sp>
      <p:sp>
        <p:nvSpPr>
          <p:cNvPr id="6" name="Shape 4"/>
          <p:cNvSpPr/>
          <p:nvPr/>
        </p:nvSpPr>
        <p:spPr>
          <a:xfrm>
            <a:off x="777240" y="2715768"/>
            <a:ext cx="10607040" cy="0"/>
          </a:xfrm>
          <a:prstGeom prst="line">
            <a:avLst/>
          </a:prstGeom>
          <a:noFill/>
          <a:ln w="9525">
            <a:solidFill>
              <a:srgbClr val="E4E8E2"/>
            </a:solidFill>
            <a:prstDash val="solid"/>
          </a:ln>
        </p:spPr>
      </p:sp>
      <p:sp>
        <p:nvSpPr>
          <p:cNvPr id="7" name="Text 5"/>
          <p:cNvSpPr/>
          <p:nvPr/>
        </p:nvSpPr>
        <p:spPr>
          <a:xfrm>
            <a:off x="777240" y="2880360"/>
            <a:ext cx="5120640" cy="685800"/>
          </a:xfrm>
          <a:prstGeom prst="rect">
            <a:avLst/>
          </a:prstGeom>
          <a:noFill/>
          <a:ln/>
        </p:spPr>
        <p:txBody>
          <a:bodyPr wrap="square" lIns="0" tIns="0" rIns="0" bIns="0" rtlCol="0" anchor="ctr"/>
          <a:lstStyle/>
          <a:p>
            <a:pPr indent="0" marL="0">
              <a:buNone/>
            </a:pPr>
            <a:r>
              <a:rPr lang="en-US" sz="1250" b="1" dirty="0">
                <a:solidFill>
                  <a:srgbClr val="A32A1F"/>
                </a:solidFill>
                <a:latin typeface="Arial" pitchFamily="34" charset="0"/>
                <a:ea typeface="Arial" pitchFamily="34" charset="-122"/>
                <a:cs typeface="Arial" pitchFamily="34" charset="-120"/>
              </a:rPr>
              <a:t>Entity scoring rewarded returning nothing but nulls</a:t>
            </a:r>
            <a:endParaRPr lang="en-US" sz="1250" dirty="0"/>
          </a:p>
        </p:txBody>
      </p:sp>
      <p:sp>
        <p:nvSpPr>
          <p:cNvPr id="8" name="Text 6"/>
          <p:cNvSpPr/>
          <p:nvPr/>
        </p:nvSpPr>
        <p:spPr>
          <a:xfrm>
            <a:off x="6172200" y="2880360"/>
            <a:ext cx="5212080" cy="822960"/>
          </a:xfrm>
          <a:prstGeom prst="rect">
            <a:avLst/>
          </a:prstGeom>
          <a:noFill/>
          <a:ln/>
        </p:spPr>
        <p:txBody>
          <a:bodyPr wrap="square" lIns="0" tIns="0" rIns="0" bIns="0" rtlCol="0" anchor="ctr"/>
          <a:lstStyle/>
          <a:p>
            <a:pPr indent="0" marL="0">
              <a:buNone/>
            </a:pPr>
            <a:r>
              <a:rPr lang="en-US" sz="1200" dirty="0">
                <a:solidFill>
                  <a:srgbClr val="0B6E4F"/>
                </a:solidFill>
                <a:latin typeface="Arial" pitchFamily="34" charset="0"/>
                <a:ea typeface="Arial" pitchFamily="34" charset="-122"/>
                <a:cs typeface="Arial" pitchFamily="34" charset="-120"/>
              </a:rPr>
              <a:t>Slots empty in both gold and prediction are now excluded from the F1 entirely.</a:t>
            </a:r>
            <a:endParaRPr lang="en-US" sz="1200" dirty="0"/>
          </a:p>
        </p:txBody>
      </p:sp>
      <p:sp>
        <p:nvSpPr>
          <p:cNvPr id="9" name="Shape 7"/>
          <p:cNvSpPr/>
          <p:nvPr/>
        </p:nvSpPr>
        <p:spPr>
          <a:xfrm>
            <a:off x="777240" y="3813048"/>
            <a:ext cx="10607040" cy="0"/>
          </a:xfrm>
          <a:prstGeom prst="line">
            <a:avLst/>
          </a:prstGeom>
          <a:noFill/>
          <a:ln w="9525">
            <a:solidFill>
              <a:srgbClr val="E4E8E2"/>
            </a:solidFill>
            <a:prstDash val="solid"/>
          </a:ln>
        </p:spPr>
      </p:sp>
      <p:sp>
        <p:nvSpPr>
          <p:cNvPr id="10" name="Text 8"/>
          <p:cNvSpPr/>
          <p:nvPr/>
        </p:nvSpPr>
        <p:spPr>
          <a:xfrm>
            <a:off x="777240" y="3977640"/>
            <a:ext cx="5120640" cy="685800"/>
          </a:xfrm>
          <a:prstGeom prst="rect">
            <a:avLst/>
          </a:prstGeom>
          <a:noFill/>
          <a:ln/>
        </p:spPr>
        <p:txBody>
          <a:bodyPr wrap="square" lIns="0" tIns="0" rIns="0" bIns="0" rtlCol="0" anchor="ctr"/>
          <a:lstStyle/>
          <a:p>
            <a:pPr indent="0" marL="0">
              <a:buNone/>
            </a:pPr>
            <a:r>
              <a:rPr lang="en-US" sz="1250" b="1" dirty="0">
                <a:solidFill>
                  <a:srgbClr val="A32A1F"/>
                </a:solidFill>
                <a:latin typeface="Arial" pitchFamily="34" charset="0"/>
                <a:ea typeface="Arial" pitchFamily="34" charset="-122"/>
                <a:cs typeface="Arial" pitchFamily="34" charset="-120"/>
              </a:rPr>
              <a:t>Free-tier rate limits on a 270-request run</a:t>
            </a:r>
            <a:endParaRPr lang="en-US" sz="1250" dirty="0"/>
          </a:p>
        </p:txBody>
      </p:sp>
      <p:sp>
        <p:nvSpPr>
          <p:cNvPr id="11" name="Text 9"/>
          <p:cNvSpPr/>
          <p:nvPr/>
        </p:nvSpPr>
        <p:spPr>
          <a:xfrm>
            <a:off x="6172200" y="3977640"/>
            <a:ext cx="5212080" cy="822960"/>
          </a:xfrm>
          <a:prstGeom prst="rect">
            <a:avLst/>
          </a:prstGeom>
          <a:noFill/>
          <a:ln/>
        </p:spPr>
        <p:txBody>
          <a:bodyPr wrap="square" lIns="0" tIns="0" rIns="0" bIns="0" rtlCol="0" anchor="ctr"/>
          <a:lstStyle/>
          <a:p>
            <a:pPr indent="0" marL="0">
              <a:buNone/>
            </a:pPr>
            <a:r>
              <a:rPr lang="en-US" sz="1200" dirty="0">
                <a:solidFill>
                  <a:srgbClr val="0B6E4F"/>
                </a:solidFill>
                <a:latin typeface="Arial" pitchFamily="34" charset="0"/>
                <a:ea typeface="Arial" pitchFamily="34" charset="-122"/>
                <a:cs typeface="Arial" pitchFamily="34" charset="-120"/>
              </a:rPr>
              <a:t>Backoff on 429 only, per-vendor runs that merge into one file, and a nine-request smoke test first.</a:t>
            </a:r>
            <a:endParaRPr lang="en-US" sz="1200" dirty="0"/>
          </a:p>
        </p:txBody>
      </p:sp>
      <p:sp>
        <p:nvSpPr>
          <p:cNvPr id="12" name="Shape 10"/>
          <p:cNvSpPr/>
          <p:nvPr/>
        </p:nvSpPr>
        <p:spPr>
          <a:xfrm>
            <a:off x="777240" y="4910328"/>
            <a:ext cx="10607040" cy="0"/>
          </a:xfrm>
          <a:prstGeom prst="line">
            <a:avLst/>
          </a:prstGeom>
          <a:noFill/>
          <a:ln w="9525">
            <a:solidFill>
              <a:srgbClr val="E4E8E2"/>
            </a:solidFill>
            <a:prstDash val="solid"/>
          </a:ln>
        </p:spPr>
      </p:sp>
      <p:sp>
        <p:nvSpPr>
          <p:cNvPr id="13" name="Text 11"/>
          <p:cNvSpPr/>
          <p:nvPr/>
        </p:nvSpPr>
        <p:spPr>
          <a:xfrm>
            <a:off x="777240" y="5074920"/>
            <a:ext cx="5120640" cy="685800"/>
          </a:xfrm>
          <a:prstGeom prst="rect">
            <a:avLst/>
          </a:prstGeom>
          <a:noFill/>
          <a:ln/>
        </p:spPr>
        <p:txBody>
          <a:bodyPr wrap="square" lIns="0" tIns="0" rIns="0" bIns="0" rtlCol="0" anchor="ctr"/>
          <a:lstStyle/>
          <a:p>
            <a:pPr indent="0" marL="0">
              <a:buNone/>
            </a:pPr>
            <a:r>
              <a:rPr lang="en-US" sz="1250" b="1" dirty="0">
                <a:solidFill>
                  <a:srgbClr val="A32A1F"/>
                </a:solidFill>
                <a:latin typeface="Arial" pitchFamily="34" charset="0"/>
                <a:ea typeface="Arial" pitchFamily="34" charset="-122"/>
                <a:cs typeface="Arial" pitchFamily="34" charset="-120"/>
              </a:rPr>
              <a:t>Models wrapped valid JSON in a code fence</a:t>
            </a:r>
            <a:endParaRPr lang="en-US" sz="1250" dirty="0"/>
          </a:p>
        </p:txBody>
      </p:sp>
      <p:sp>
        <p:nvSpPr>
          <p:cNvPr id="14" name="Text 12"/>
          <p:cNvSpPr/>
          <p:nvPr/>
        </p:nvSpPr>
        <p:spPr>
          <a:xfrm>
            <a:off x="6172200" y="5074920"/>
            <a:ext cx="5212080" cy="822960"/>
          </a:xfrm>
          <a:prstGeom prst="rect">
            <a:avLst/>
          </a:prstGeom>
          <a:noFill/>
          <a:ln/>
        </p:spPr>
        <p:txBody>
          <a:bodyPr wrap="square" lIns="0" tIns="0" rIns="0" bIns="0" rtlCol="0" anchor="ctr"/>
          <a:lstStyle/>
          <a:p>
            <a:pPr indent="0" marL="0">
              <a:buNone/>
            </a:pPr>
            <a:r>
              <a:rPr lang="en-US" sz="1200" dirty="0">
                <a:solidFill>
                  <a:srgbClr val="0B6E4F"/>
                </a:solidFill>
                <a:latin typeface="Arial" pitchFamily="34" charset="0"/>
                <a:ea typeface="Arial" pitchFamily="34" charset="-122"/>
                <a:cs typeface="Arial" pitchFamily="34" charset="-120"/>
              </a:rPr>
              <a:t>Split into two measures: schema validity, and a separate clean-JSON rate.</a:t>
            </a:r>
            <a:endParaRPr lang="en-US" sz="1200" dirty="0"/>
          </a:p>
        </p:txBody>
      </p:sp>
      <p:sp>
        <p:nvSpPr>
          <p:cNvPr id="15" name="Text 13"/>
          <p:cNvSpPr/>
          <p:nvPr/>
        </p:nvSpPr>
        <p:spPr>
          <a:xfrm>
            <a:off x="777240" y="6126480"/>
            <a:ext cx="10607040" cy="320040"/>
          </a:xfrm>
          <a:prstGeom prst="rect">
            <a:avLst/>
          </a:prstGeom>
          <a:noFill/>
          <a:ln/>
        </p:spPr>
        <p:txBody>
          <a:bodyPr wrap="square" lIns="0" tIns="0" rIns="0" bIns="0" rtlCol="0" anchor="ctr"/>
          <a:lstStyle/>
          <a:p>
            <a:pPr indent="0" marL="0">
              <a:buNone/>
            </a:pPr>
            <a:r>
              <a:rPr lang="en-US" sz="1050" dirty="0">
                <a:solidFill>
                  <a:srgbClr val="6B7671"/>
                </a:solidFill>
                <a:latin typeface="Courier New" pitchFamily="34" charset="0"/>
                <a:ea typeface="Courier New" pitchFamily="34" charset="-122"/>
                <a:cs typeface="Courier New" pitchFamily="34" charset="-120"/>
              </a:rPr>
              <a:t>Four of eight. The rest are in the progress report.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02336"/>
            <a:ext cx="10607040" cy="274320"/>
          </a:xfrm>
          <a:prstGeom prst="rect">
            <a:avLst/>
          </a:prstGeom>
          <a:noFill/>
          <a:ln/>
        </p:spPr>
        <p:txBody>
          <a:bodyPr wrap="square" lIns="0" tIns="0" rIns="0" bIns="0" rtlCol="0" anchor="ctr"/>
          <a:lstStyle/>
          <a:p>
            <a:pPr indent="0" marL="0">
              <a:buNone/>
            </a:pPr>
            <a:r>
              <a:rPr lang="en-US" sz="900" spc="100" kern="0" dirty="0">
                <a:solidFill>
                  <a:srgbClr val="6B7671"/>
                </a:solidFill>
                <a:latin typeface="Courier New" pitchFamily="34" charset="0"/>
                <a:ea typeface="Courier New" pitchFamily="34" charset="-122"/>
                <a:cs typeface="Courier New" pitchFamily="34" charset="-120"/>
              </a:rPr>
              <a:t>0 9</a:t>
            </a:r>
            <a:endParaRPr lang="en-US" sz="900" dirty="0"/>
          </a:p>
        </p:txBody>
      </p:sp>
      <p:sp>
        <p:nvSpPr>
          <p:cNvPr id="3" name="Text 1"/>
          <p:cNvSpPr/>
          <p:nvPr/>
        </p:nvSpPr>
        <p:spPr>
          <a:xfrm>
            <a:off x="777240" y="749808"/>
            <a:ext cx="10607040" cy="914400"/>
          </a:xfrm>
          <a:prstGeom prst="rect">
            <a:avLst/>
          </a:prstGeom>
          <a:noFill/>
          <a:ln/>
        </p:spPr>
        <p:txBody>
          <a:bodyPr wrap="square" lIns="0" tIns="0" rIns="0" bIns="0" rtlCol="0" anchor="t"/>
          <a:lstStyle/>
          <a:p>
            <a:pPr indent="0" marL="0">
              <a:buNone/>
            </a:pPr>
            <a:r>
              <a:rPr lang="en-US" sz="3000" b="1" dirty="0">
                <a:solidFill>
                  <a:srgbClr val="12181A"/>
                </a:solidFill>
                <a:latin typeface="Arial" pitchFamily="34" charset="0"/>
                <a:ea typeface="Arial" pitchFamily="34" charset="-122"/>
                <a:cs typeface="Arial" pitchFamily="34" charset="-120"/>
              </a:rPr>
              <a:t>Who I approached, and how</a:t>
            </a:r>
            <a:endParaRPr lang="en-US" sz="3000" dirty="0"/>
          </a:p>
        </p:txBody>
      </p:sp>
      <p:sp>
        <p:nvSpPr>
          <p:cNvPr id="4" name="Shape 2"/>
          <p:cNvSpPr/>
          <p:nvPr/>
        </p:nvSpPr>
        <p:spPr>
          <a:xfrm>
            <a:off x="777240" y="1783080"/>
            <a:ext cx="3383280" cy="2286000"/>
          </a:xfrm>
          <a:prstGeom prst="rect">
            <a:avLst/>
          </a:prstGeom>
          <a:solidFill>
            <a:srgbClr val="F4F6F3"/>
          </a:solidFill>
          <a:ln w="6350">
            <a:solidFill>
              <a:srgbClr val="C7CDC6"/>
            </a:solidFill>
            <a:prstDash val="solid"/>
          </a:ln>
        </p:spPr>
      </p:sp>
      <p:sp>
        <p:nvSpPr>
          <p:cNvPr id="5" name="Text 3"/>
          <p:cNvSpPr/>
          <p:nvPr/>
        </p:nvSpPr>
        <p:spPr>
          <a:xfrm>
            <a:off x="1033272" y="2011680"/>
            <a:ext cx="2834640" cy="365760"/>
          </a:xfrm>
          <a:prstGeom prst="rect">
            <a:avLst/>
          </a:prstGeom>
          <a:noFill/>
          <a:ln/>
        </p:spPr>
        <p:txBody>
          <a:bodyPr wrap="square" lIns="0" tIns="0" rIns="0" bIns="0" rtlCol="0" anchor="ctr"/>
          <a:lstStyle/>
          <a:p>
            <a:pPr indent="0" marL="0">
              <a:buNone/>
            </a:pPr>
            <a:r>
              <a:rPr lang="en-US" sz="1700" b="1" dirty="0">
                <a:solidFill>
                  <a:srgbClr val="12181A"/>
                </a:solidFill>
                <a:latin typeface="Arial" pitchFamily="34" charset="0"/>
                <a:ea typeface="Arial" pitchFamily="34" charset="-122"/>
                <a:cs typeface="Arial" pitchFamily="34" charset="-120"/>
              </a:rPr>
              <a:t>PostEx</a:t>
            </a:r>
            <a:endParaRPr lang="en-US" sz="1700" dirty="0"/>
          </a:p>
        </p:txBody>
      </p:sp>
      <p:sp>
        <p:nvSpPr>
          <p:cNvPr id="6" name="Text 4"/>
          <p:cNvSpPr/>
          <p:nvPr/>
        </p:nvSpPr>
        <p:spPr>
          <a:xfrm>
            <a:off x="1033272" y="2487168"/>
            <a:ext cx="2880360" cy="1371600"/>
          </a:xfrm>
          <a:prstGeom prst="rect">
            <a:avLst/>
          </a:prstGeom>
          <a:noFill/>
          <a:ln/>
        </p:spPr>
        <p:txBody>
          <a:bodyPr wrap="square" lIns="0" tIns="0" rIns="0" bIns="0" rtlCol="0" anchor="ctr"/>
          <a:lstStyle/>
          <a:p>
            <a:pPr indent="0" marL="0">
              <a:buNone/>
            </a:pPr>
            <a:r>
              <a:rPr lang="en-US" sz="1150" dirty="0">
                <a:solidFill>
                  <a:srgbClr val="2A3639"/>
                </a:solidFill>
                <a:latin typeface="Arial" pitchFamily="34" charset="0"/>
                <a:ea typeface="Arial" pitchFamily="34" charset="-122"/>
                <a:cs typeface="Arial" pitchFamily="34" charset="-120"/>
              </a:rPr>
              <a:t>Courier plus payments for e-commerce sellers, so support carries both delivery and money questions.</a:t>
            </a:r>
            <a:endParaRPr lang="en-US" sz="1150" dirty="0"/>
          </a:p>
        </p:txBody>
      </p:sp>
      <p:sp>
        <p:nvSpPr>
          <p:cNvPr id="7" name="Shape 5"/>
          <p:cNvSpPr/>
          <p:nvPr/>
        </p:nvSpPr>
        <p:spPr>
          <a:xfrm>
            <a:off x="4434840" y="1783080"/>
            <a:ext cx="3383280" cy="2286000"/>
          </a:xfrm>
          <a:prstGeom prst="rect">
            <a:avLst/>
          </a:prstGeom>
          <a:solidFill>
            <a:srgbClr val="F4F6F3"/>
          </a:solidFill>
          <a:ln w="6350">
            <a:solidFill>
              <a:srgbClr val="C7CDC6"/>
            </a:solidFill>
            <a:prstDash val="solid"/>
          </a:ln>
        </p:spPr>
      </p:sp>
      <p:sp>
        <p:nvSpPr>
          <p:cNvPr id="8" name="Text 6"/>
          <p:cNvSpPr/>
          <p:nvPr/>
        </p:nvSpPr>
        <p:spPr>
          <a:xfrm>
            <a:off x="4690872" y="2011680"/>
            <a:ext cx="2834640" cy="365760"/>
          </a:xfrm>
          <a:prstGeom prst="rect">
            <a:avLst/>
          </a:prstGeom>
          <a:noFill/>
          <a:ln/>
        </p:spPr>
        <p:txBody>
          <a:bodyPr wrap="square" lIns="0" tIns="0" rIns="0" bIns="0" rtlCol="0" anchor="ctr"/>
          <a:lstStyle/>
          <a:p>
            <a:pPr indent="0" marL="0">
              <a:buNone/>
            </a:pPr>
            <a:r>
              <a:rPr lang="en-US" sz="1700" b="1" dirty="0">
                <a:solidFill>
                  <a:srgbClr val="12181A"/>
                </a:solidFill>
                <a:latin typeface="Arial" pitchFamily="34" charset="0"/>
                <a:ea typeface="Arial" pitchFamily="34" charset="-122"/>
                <a:cs typeface="Arial" pitchFamily="34" charset="-120"/>
              </a:rPr>
              <a:t>Rider</a:t>
            </a:r>
            <a:endParaRPr lang="en-US" sz="1700" dirty="0"/>
          </a:p>
        </p:txBody>
      </p:sp>
      <p:sp>
        <p:nvSpPr>
          <p:cNvPr id="9" name="Text 7"/>
          <p:cNvSpPr/>
          <p:nvPr/>
        </p:nvSpPr>
        <p:spPr>
          <a:xfrm>
            <a:off x="4690872" y="2487168"/>
            <a:ext cx="2880360" cy="1371600"/>
          </a:xfrm>
          <a:prstGeom prst="rect">
            <a:avLst/>
          </a:prstGeom>
          <a:noFill/>
          <a:ln/>
        </p:spPr>
        <p:txBody>
          <a:bodyPr wrap="square" lIns="0" tIns="0" rIns="0" bIns="0" rtlCol="0" anchor="ctr"/>
          <a:lstStyle/>
          <a:p>
            <a:pPr indent="0" marL="0">
              <a:buNone/>
            </a:pPr>
            <a:r>
              <a:rPr lang="en-US" sz="1150" dirty="0">
                <a:solidFill>
                  <a:srgbClr val="2A3639"/>
                </a:solidFill>
                <a:latin typeface="Arial" pitchFamily="34" charset="0"/>
                <a:ea typeface="Arial" pitchFamily="34" charset="-122"/>
                <a:cs typeface="Arial" pitchFamily="34" charset="-120"/>
              </a:rPr>
              <a:t>Karachi last-mile built around online shippers. Volume high enough for per-contact support cost to be a real line item.</a:t>
            </a:r>
            <a:endParaRPr lang="en-US" sz="1150" dirty="0"/>
          </a:p>
        </p:txBody>
      </p:sp>
      <p:sp>
        <p:nvSpPr>
          <p:cNvPr id="10" name="Shape 8"/>
          <p:cNvSpPr/>
          <p:nvPr/>
        </p:nvSpPr>
        <p:spPr>
          <a:xfrm>
            <a:off x="8092440" y="1783080"/>
            <a:ext cx="3383280" cy="2286000"/>
          </a:xfrm>
          <a:prstGeom prst="rect">
            <a:avLst/>
          </a:prstGeom>
          <a:solidFill>
            <a:srgbClr val="F4F6F3"/>
          </a:solidFill>
          <a:ln w="6350">
            <a:solidFill>
              <a:srgbClr val="C7CDC6"/>
            </a:solidFill>
            <a:prstDash val="solid"/>
          </a:ln>
        </p:spPr>
      </p:sp>
      <p:sp>
        <p:nvSpPr>
          <p:cNvPr id="11" name="Text 9"/>
          <p:cNvSpPr/>
          <p:nvPr/>
        </p:nvSpPr>
        <p:spPr>
          <a:xfrm>
            <a:off x="8348472" y="2011680"/>
            <a:ext cx="2834640" cy="365760"/>
          </a:xfrm>
          <a:prstGeom prst="rect">
            <a:avLst/>
          </a:prstGeom>
          <a:noFill/>
          <a:ln/>
        </p:spPr>
        <p:txBody>
          <a:bodyPr wrap="square" lIns="0" tIns="0" rIns="0" bIns="0" rtlCol="0" anchor="ctr"/>
          <a:lstStyle/>
          <a:p>
            <a:pPr indent="0" marL="0">
              <a:buNone/>
            </a:pPr>
            <a:r>
              <a:rPr lang="en-US" sz="1700" b="1" dirty="0">
                <a:solidFill>
                  <a:srgbClr val="12181A"/>
                </a:solidFill>
                <a:latin typeface="Arial" pitchFamily="34" charset="0"/>
                <a:ea typeface="Arial" pitchFamily="34" charset="-122"/>
                <a:cs typeface="Arial" pitchFamily="34" charset="-120"/>
              </a:rPr>
              <a:t>Unity Retail</a:t>
            </a:r>
            <a:endParaRPr lang="en-US" sz="1700" dirty="0"/>
          </a:p>
        </p:txBody>
      </p:sp>
      <p:sp>
        <p:nvSpPr>
          <p:cNvPr id="12" name="Text 10"/>
          <p:cNvSpPr/>
          <p:nvPr/>
        </p:nvSpPr>
        <p:spPr>
          <a:xfrm>
            <a:off x="8348472" y="2487168"/>
            <a:ext cx="2880360" cy="1371600"/>
          </a:xfrm>
          <a:prstGeom prst="rect">
            <a:avLst/>
          </a:prstGeom>
          <a:noFill/>
          <a:ln/>
        </p:spPr>
        <p:txBody>
          <a:bodyPr wrap="square" lIns="0" tIns="0" rIns="0" bIns="0" rtlCol="0" anchor="ctr"/>
          <a:lstStyle/>
          <a:p>
            <a:pPr indent="0" marL="0">
              <a:buNone/>
            </a:pPr>
            <a:r>
              <a:rPr lang="en-US" sz="1150" dirty="0">
                <a:solidFill>
                  <a:srgbClr val="2A3639"/>
                </a:solidFill>
                <a:latin typeface="Arial" pitchFamily="34" charset="0"/>
                <a:ea typeface="Arial" pitchFamily="34" charset="-122"/>
                <a:cs typeface="Arial" pitchFamily="34" charset="-120"/>
              </a:rPr>
              <a:t>Fulfilment software for merchants, so their support conversations are with sellers rather than consumers.</a:t>
            </a:r>
            <a:endParaRPr lang="en-US" sz="1150" dirty="0"/>
          </a:p>
        </p:txBody>
      </p:sp>
      <p:sp>
        <p:nvSpPr>
          <p:cNvPr id="13" name="Text 11"/>
          <p:cNvSpPr/>
          <p:nvPr/>
        </p:nvSpPr>
        <p:spPr>
          <a:xfrm>
            <a:off x="777240" y="4389120"/>
            <a:ext cx="10607040" cy="320040"/>
          </a:xfrm>
          <a:prstGeom prst="rect">
            <a:avLst/>
          </a:prstGeom>
          <a:noFill/>
          <a:ln/>
        </p:spPr>
        <p:txBody>
          <a:bodyPr wrap="square" lIns="0" tIns="0" rIns="0" bIns="0" rtlCol="0" anchor="ctr"/>
          <a:lstStyle/>
          <a:p>
            <a:pPr indent="0" marL="0">
              <a:buNone/>
            </a:pPr>
            <a:r>
              <a:rPr lang="en-US" sz="1400" b="1" dirty="0">
                <a:solidFill>
                  <a:srgbClr val="12181A"/>
                </a:solidFill>
                <a:latin typeface="Arial" pitchFamily="34" charset="0"/>
                <a:ea typeface="Arial" pitchFamily="34" charset="-122"/>
                <a:cs typeface="Arial" pitchFamily="34" charset="-120"/>
              </a:rPr>
              <a:t>Rules I held to</a:t>
            </a:r>
            <a:endParaRPr lang="en-US" sz="1400" dirty="0"/>
          </a:p>
        </p:txBody>
      </p:sp>
      <p:sp>
        <p:nvSpPr>
          <p:cNvPr id="14" name="Text 12"/>
          <p:cNvSpPr/>
          <p:nvPr/>
        </p:nvSpPr>
        <p:spPr>
          <a:xfrm>
            <a:off x="777240" y="4800600"/>
            <a:ext cx="10607040" cy="137160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2A3639"/>
                </a:solidFill>
                <a:latin typeface="Arial" pitchFamily="34" charset="0"/>
                <a:ea typeface="Arial" pitchFamily="34" charset="-122"/>
                <a:cs typeface="Arial" pitchFamily="34" charset="-120"/>
              </a:rPr>
              <a:t>One message per organisation, written and sent by hand. No automation, no list send.</a:t>
            </a:r>
            <a:endParaRPr lang="en-US" sz="1200" dirty="0"/>
          </a:p>
          <a:p>
            <a:pPr marL="342900" indent="-342900">
              <a:spcAft>
                <a:spcPts val="500"/>
              </a:spcAft>
              <a:buSzPct val="100000"/>
              <a:buChar char="•"/>
            </a:pPr>
            <a:r>
              <a:rPr lang="en-US" sz="1200" dirty="0">
                <a:solidFill>
                  <a:srgbClr val="2A3639"/>
                </a:solidFill>
                <a:latin typeface="Arial" pitchFamily="34" charset="0"/>
                <a:ea typeface="Arial" pitchFamily="34" charset="-122"/>
                <a:cs typeface="Arial" pitchFamily="34" charset="-120"/>
              </a:rPr>
              <a:t>The message says plainly that I am an intern and that I am not selling anything.</a:t>
            </a:r>
            <a:endParaRPr lang="en-US" sz="1200" dirty="0"/>
          </a:p>
          <a:p>
            <a:pPr marL="342900" indent="-342900">
              <a:spcAft>
                <a:spcPts val="500"/>
              </a:spcAft>
              <a:buSzPct val="100000"/>
              <a:buChar char="•"/>
            </a:pPr>
            <a:r>
              <a:rPr lang="en-US" sz="1200" dirty="0">
                <a:solidFill>
                  <a:srgbClr val="2A3639"/>
                </a:solidFill>
                <a:latin typeface="Arial" pitchFamily="34" charset="0"/>
                <a:ea typeface="Arial" pitchFamily="34" charset="-122"/>
                <a:cs typeface="Arial" pitchFamily="34" charset="-120"/>
              </a:rPr>
              <a:t>No claim to have studied their operation, because I have not. The offer is to show the method and ask where the test cases are wrong.</a:t>
            </a:r>
            <a:endParaRPr lang="en-US" sz="1200" dirty="0"/>
          </a:p>
          <a:p>
            <a:pPr marL="342900" indent="-342900">
              <a:spcAft>
                <a:spcPts val="500"/>
              </a:spcAft>
              <a:buSzPct val="100000"/>
              <a:buChar char="•"/>
            </a:pPr>
            <a:r>
              <a:rPr lang="en-US" sz="1200" dirty="0">
                <a:solidFill>
                  <a:srgbClr val="2A3639"/>
                </a:solidFill>
                <a:latin typeface="Arial" pitchFamily="34" charset="0"/>
                <a:ea typeface="Arial" pitchFamily="34" charset="-122"/>
                <a:cs typeface="Arial" pitchFamily="34" charset="-120"/>
              </a:rPr>
              <a:t>A not-interested reply closes the row the day it arrives, with no follow-up later.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402336"/>
            <a:ext cx="10607040" cy="274320"/>
          </a:xfrm>
          <a:prstGeom prst="rect">
            <a:avLst/>
          </a:prstGeom>
          <a:noFill/>
          <a:ln/>
        </p:spPr>
        <p:txBody>
          <a:bodyPr wrap="square" lIns="0" tIns="0" rIns="0" bIns="0" rtlCol="0" anchor="ctr"/>
          <a:lstStyle/>
          <a:p>
            <a:pPr indent="0" marL="0">
              <a:buNone/>
            </a:pPr>
            <a:r>
              <a:rPr lang="en-US" sz="900" spc="100" kern="0" dirty="0">
                <a:solidFill>
                  <a:srgbClr val="6B7671"/>
                </a:solidFill>
                <a:latin typeface="Courier New" pitchFamily="34" charset="0"/>
                <a:ea typeface="Courier New" pitchFamily="34" charset="-122"/>
                <a:cs typeface="Courier New" pitchFamily="34" charset="-120"/>
              </a:rPr>
              <a:t>1 0</a:t>
            </a:r>
            <a:endParaRPr lang="en-US" sz="900" dirty="0"/>
          </a:p>
        </p:txBody>
      </p:sp>
      <p:sp>
        <p:nvSpPr>
          <p:cNvPr id="3" name="Text 1"/>
          <p:cNvSpPr/>
          <p:nvPr/>
        </p:nvSpPr>
        <p:spPr>
          <a:xfrm>
            <a:off x="777240" y="749808"/>
            <a:ext cx="10607040" cy="914400"/>
          </a:xfrm>
          <a:prstGeom prst="rect">
            <a:avLst/>
          </a:prstGeom>
          <a:noFill/>
          <a:ln/>
        </p:spPr>
        <p:txBody>
          <a:bodyPr wrap="square" lIns="0" tIns="0" rIns="0" bIns="0" rtlCol="0" anchor="t"/>
          <a:lstStyle/>
          <a:p>
            <a:pPr indent="0" marL="0">
              <a:buNone/>
            </a:pPr>
            <a:r>
              <a:rPr lang="en-US" sz="3000" b="1" dirty="0">
                <a:solidFill>
                  <a:srgbClr val="12181A"/>
                </a:solidFill>
                <a:latin typeface="Arial" pitchFamily="34" charset="0"/>
                <a:ea typeface="Arial" pitchFamily="34" charset="-122"/>
                <a:cs typeface="Arial" pitchFamily="34" charset="-120"/>
              </a:rPr>
              <a:t>Next week</a:t>
            </a:r>
            <a:endParaRPr lang="en-US" sz="3000" dirty="0"/>
          </a:p>
        </p:txBody>
      </p:sp>
      <p:sp>
        <p:nvSpPr>
          <p:cNvPr id="4" name="Text 2"/>
          <p:cNvSpPr/>
          <p:nvPr/>
        </p:nvSpPr>
        <p:spPr>
          <a:xfrm>
            <a:off x="777240" y="1737360"/>
            <a:ext cx="457200" cy="365760"/>
          </a:xfrm>
          <a:prstGeom prst="rect">
            <a:avLst/>
          </a:prstGeom>
          <a:noFill/>
          <a:ln/>
        </p:spPr>
        <p:txBody>
          <a:bodyPr wrap="square" lIns="0" tIns="0" rIns="0" bIns="0" rtlCol="0" anchor="ctr"/>
          <a:lstStyle/>
          <a:p>
            <a:pPr indent="0" marL="0">
              <a:buNone/>
            </a:pPr>
            <a:r>
              <a:rPr lang="en-US" sz="1500" b="1" dirty="0">
                <a:solidFill>
                  <a:srgbClr val="3A6E8F"/>
                </a:solidFill>
                <a:latin typeface="Courier New" pitchFamily="34" charset="0"/>
                <a:ea typeface="Courier New" pitchFamily="34" charset="-122"/>
                <a:cs typeface="Courier New" pitchFamily="34" charset="-120"/>
              </a:rPr>
              <a:t>1</a:t>
            </a:r>
            <a:endParaRPr lang="en-US" sz="1500" dirty="0"/>
          </a:p>
        </p:txBody>
      </p:sp>
      <p:sp>
        <p:nvSpPr>
          <p:cNvPr id="5" name="Text 3"/>
          <p:cNvSpPr/>
          <p:nvPr/>
        </p:nvSpPr>
        <p:spPr>
          <a:xfrm>
            <a:off x="1325880" y="1737360"/>
            <a:ext cx="10058400" cy="457200"/>
          </a:xfrm>
          <a:prstGeom prst="rect">
            <a:avLst/>
          </a:prstGeom>
          <a:noFill/>
          <a:ln/>
        </p:spPr>
        <p:txBody>
          <a:bodyPr wrap="square" lIns="0" tIns="0" rIns="0" bIns="0" rtlCol="0" anchor="ctr"/>
          <a:lstStyle/>
          <a:p>
            <a:pPr indent="0" marL="0">
              <a:buNone/>
            </a:pPr>
            <a:r>
              <a:rPr lang="en-US" sz="1400" dirty="0">
                <a:solidFill>
                  <a:srgbClr val="2A3639"/>
                </a:solidFill>
                <a:latin typeface="Arial" pitchFamily="34" charset="0"/>
                <a:ea typeface="Arial" pitchFamily="34" charset="-122"/>
                <a:cs typeface="Arial" pitchFamily="34" charset="-120"/>
              </a:rPr>
              <a:t>Run the full benchmark on live keys, one vendor at a time if rate limits bite</a:t>
            </a:r>
            <a:endParaRPr lang="en-US" sz="1400" dirty="0"/>
          </a:p>
        </p:txBody>
      </p:sp>
      <p:sp>
        <p:nvSpPr>
          <p:cNvPr id="6" name="Text 4"/>
          <p:cNvSpPr/>
          <p:nvPr/>
        </p:nvSpPr>
        <p:spPr>
          <a:xfrm>
            <a:off x="777240" y="2450592"/>
            <a:ext cx="457200" cy="365760"/>
          </a:xfrm>
          <a:prstGeom prst="rect">
            <a:avLst/>
          </a:prstGeom>
          <a:noFill/>
          <a:ln/>
        </p:spPr>
        <p:txBody>
          <a:bodyPr wrap="square" lIns="0" tIns="0" rIns="0" bIns="0" rtlCol="0" anchor="ctr"/>
          <a:lstStyle/>
          <a:p>
            <a:pPr indent="0" marL="0">
              <a:buNone/>
            </a:pPr>
            <a:r>
              <a:rPr lang="en-US" sz="1500" b="1" dirty="0">
                <a:solidFill>
                  <a:srgbClr val="3A6E8F"/>
                </a:solidFill>
                <a:latin typeface="Courier New" pitchFamily="34" charset="0"/>
                <a:ea typeface="Courier New" pitchFamily="34" charset="-122"/>
                <a:cs typeface="Courier New" pitchFamily="34" charset="-120"/>
              </a:rPr>
              <a:t>2</a:t>
            </a:r>
            <a:endParaRPr lang="en-US" sz="1500" dirty="0"/>
          </a:p>
        </p:txBody>
      </p:sp>
      <p:sp>
        <p:nvSpPr>
          <p:cNvPr id="7" name="Text 5"/>
          <p:cNvSpPr/>
          <p:nvPr/>
        </p:nvSpPr>
        <p:spPr>
          <a:xfrm>
            <a:off x="1325880" y="2450592"/>
            <a:ext cx="10058400" cy="457200"/>
          </a:xfrm>
          <a:prstGeom prst="rect">
            <a:avLst/>
          </a:prstGeom>
          <a:noFill/>
          <a:ln/>
        </p:spPr>
        <p:txBody>
          <a:bodyPr wrap="square" lIns="0" tIns="0" rIns="0" bIns="0" rtlCol="0" anchor="ctr"/>
          <a:lstStyle/>
          <a:p>
            <a:pPr indent="0" marL="0">
              <a:buNone/>
            </a:pPr>
            <a:r>
              <a:rPr lang="en-US" sz="1400" dirty="0">
                <a:solidFill>
                  <a:srgbClr val="2A3639"/>
                </a:solidFill>
                <a:latin typeface="Arial" pitchFamily="34" charset="0"/>
                <a:ea typeface="Arial" pitchFamily="34" charset="-122"/>
                <a:cs typeface="Arial" pitchFamily="34" charset="-120"/>
              </a:rPr>
              <a:t>Score the integration rubric by hand after writing client code against each API</a:t>
            </a:r>
            <a:endParaRPr lang="en-US" sz="1400" dirty="0"/>
          </a:p>
        </p:txBody>
      </p:sp>
      <p:sp>
        <p:nvSpPr>
          <p:cNvPr id="8" name="Text 6"/>
          <p:cNvSpPr/>
          <p:nvPr/>
        </p:nvSpPr>
        <p:spPr>
          <a:xfrm>
            <a:off x="777240" y="3163824"/>
            <a:ext cx="457200" cy="365760"/>
          </a:xfrm>
          <a:prstGeom prst="rect">
            <a:avLst/>
          </a:prstGeom>
          <a:noFill/>
          <a:ln/>
        </p:spPr>
        <p:txBody>
          <a:bodyPr wrap="square" lIns="0" tIns="0" rIns="0" bIns="0" rtlCol="0" anchor="ctr"/>
          <a:lstStyle/>
          <a:p>
            <a:pPr indent="0" marL="0">
              <a:buNone/>
            </a:pPr>
            <a:r>
              <a:rPr lang="en-US" sz="1500" b="1" dirty="0">
                <a:solidFill>
                  <a:srgbClr val="3A6E8F"/>
                </a:solidFill>
                <a:latin typeface="Courier New" pitchFamily="34" charset="0"/>
                <a:ea typeface="Courier New" pitchFamily="34" charset="-122"/>
                <a:cs typeface="Courier New" pitchFamily="34" charset="-120"/>
              </a:rPr>
              <a:t>3</a:t>
            </a:r>
            <a:endParaRPr lang="en-US" sz="1500" dirty="0"/>
          </a:p>
        </p:txBody>
      </p:sp>
      <p:sp>
        <p:nvSpPr>
          <p:cNvPr id="9" name="Text 7"/>
          <p:cNvSpPr/>
          <p:nvPr/>
        </p:nvSpPr>
        <p:spPr>
          <a:xfrm>
            <a:off x="1325880" y="3163824"/>
            <a:ext cx="10058400" cy="457200"/>
          </a:xfrm>
          <a:prstGeom prst="rect">
            <a:avLst/>
          </a:prstGeom>
          <a:noFill/>
          <a:ln/>
        </p:spPr>
        <p:txBody>
          <a:bodyPr wrap="square" lIns="0" tIns="0" rIns="0" bIns="0" rtlCol="0" anchor="ctr"/>
          <a:lstStyle/>
          <a:p>
            <a:pPr indent="0" marL="0">
              <a:buNone/>
            </a:pPr>
            <a:r>
              <a:rPr lang="en-US" sz="1400" dirty="0">
                <a:solidFill>
                  <a:srgbClr val="2A3639"/>
                </a:solidFill>
                <a:latin typeface="Arial" pitchFamily="34" charset="0"/>
                <a:ea typeface="Arial" pitchFamily="34" charset="-122"/>
                <a:cs typeface="Arial" pitchFamily="34" charset="-120"/>
              </a:rPr>
              <a:t>Rebuild the dashboard and memo, record the walkthrough video</a:t>
            </a:r>
            <a:endParaRPr lang="en-US" sz="1400" dirty="0"/>
          </a:p>
        </p:txBody>
      </p:sp>
      <p:sp>
        <p:nvSpPr>
          <p:cNvPr id="10" name="Text 8"/>
          <p:cNvSpPr/>
          <p:nvPr/>
        </p:nvSpPr>
        <p:spPr>
          <a:xfrm>
            <a:off x="777240" y="3877056"/>
            <a:ext cx="457200" cy="365760"/>
          </a:xfrm>
          <a:prstGeom prst="rect">
            <a:avLst/>
          </a:prstGeom>
          <a:noFill/>
          <a:ln/>
        </p:spPr>
        <p:txBody>
          <a:bodyPr wrap="square" lIns="0" tIns="0" rIns="0" bIns="0" rtlCol="0" anchor="ctr"/>
          <a:lstStyle/>
          <a:p>
            <a:pPr indent="0" marL="0">
              <a:buNone/>
            </a:pPr>
            <a:r>
              <a:rPr lang="en-US" sz="1500" b="1" dirty="0">
                <a:solidFill>
                  <a:srgbClr val="3A6E8F"/>
                </a:solidFill>
                <a:latin typeface="Courier New" pitchFamily="34" charset="0"/>
                <a:ea typeface="Courier New" pitchFamily="34" charset="-122"/>
                <a:cs typeface="Courier New" pitchFamily="34" charset="-120"/>
              </a:rPr>
              <a:t>4</a:t>
            </a:r>
            <a:endParaRPr lang="en-US" sz="1500" dirty="0"/>
          </a:p>
        </p:txBody>
      </p:sp>
      <p:sp>
        <p:nvSpPr>
          <p:cNvPr id="11" name="Text 9"/>
          <p:cNvSpPr/>
          <p:nvPr/>
        </p:nvSpPr>
        <p:spPr>
          <a:xfrm>
            <a:off x="1325880" y="3877056"/>
            <a:ext cx="10058400" cy="457200"/>
          </a:xfrm>
          <a:prstGeom prst="rect">
            <a:avLst/>
          </a:prstGeom>
          <a:noFill/>
          <a:ln/>
        </p:spPr>
        <p:txBody>
          <a:bodyPr wrap="square" lIns="0" tIns="0" rIns="0" bIns="0" rtlCol="0" anchor="ctr"/>
          <a:lstStyle/>
          <a:p>
            <a:pPr indent="0" marL="0">
              <a:buNone/>
            </a:pPr>
            <a:r>
              <a:rPr lang="en-US" sz="1400" dirty="0">
                <a:solidFill>
                  <a:srgbClr val="2A3639"/>
                </a:solidFill>
                <a:latin typeface="Arial" pitchFamily="34" charset="0"/>
                <a:ea typeface="Arial" pitchFamily="34" charset="-122"/>
                <a:cs typeface="Arial" pitchFamily="34" charset="-120"/>
              </a:rPr>
              <a:t>Send the three messages and log every response, including silence</a:t>
            </a:r>
            <a:endParaRPr lang="en-US" sz="1400" dirty="0"/>
          </a:p>
        </p:txBody>
      </p:sp>
      <p:sp>
        <p:nvSpPr>
          <p:cNvPr id="12" name="Text 10"/>
          <p:cNvSpPr/>
          <p:nvPr/>
        </p:nvSpPr>
        <p:spPr>
          <a:xfrm>
            <a:off x="777240" y="4590288"/>
            <a:ext cx="457200" cy="365760"/>
          </a:xfrm>
          <a:prstGeom prst="rect">
            <a:avLst/>
          </a:prstGeom>
          <a:noFill/>
          <a:ln/>
        </p:spPr>
        <p:txBody>
          <a:bodyPr wrap="square" lIns="0" tIns="0" rIns="0" bIns="0" rtlCol="0" anchor="ctr"/>
          <a:lstStyle/>
          <a:p>
            <a:pPr indent="0" marL="0">
              <a:buNone/>
            </a:pPr>
            <a:r>
              <a:rPr lang="en-US" sz="1500" b="1" dirty="0">
                <a:solidFill>
                  <a:srgbClr val="0B6E4F"/>
                </a:solidFill>
                <a:latin typeface="Courier New" pitchFamily="34" charset="0"/>
                <a:ea typeface="Courier New" pitchFamily="34" charset="-122"/>
                <a:cs typeface="Courier New" pitchFamily="34" charset="-120"/>
              </a:rPr>
              <a:t>5</a:t>
            </a:r>
            <a:endParaRPr lang="en-US" sz="1500" dirty="0"/>
          </a:p>
        </p:txBody>
      </p:sp>
      <p:sp>
        <p:nvSpPr>
          <p:cNvPr id="13" name="Text 11"/>
          <p:cNvSpPr/>
          <p:nvPr/>
        </p:nvSpPr>
        <p:spPr>
          <a:xfrm>
            <a:off x="1325880" y="4590288"/>
            <a:ext cx="10058400" cy="457200"/>
          </a:xfrm>
          <a:prstGeom prst="rect">
            <a:avLst/>
          </a:prstGeom>
          <a:noFill/>
          <a:ln/>
        </p:spPr>
        <p:txBody>
          <a:bodyPr wrap="square" lIns="0" tIns="0" rIns="0" bIns="0" rtlCol="0" anchor="ctr"/>
          <a:lstStyle/>
          <a:p>
            <a:pPr indent="0" marL="0">
              <a:buNone/>
            </a:pPr>
            <a:r>
              <a:rPr lang="en-US" sz="1400" dirty="0">
                <a:solidFill>
                  <a:srgbClr val="2A3639"/>
                </a:solidFill>
                <a:latin typeface="Arial" pitchFamily="34" charset="0"/>
                <a:ea typeface="Arial" pitchFamily="34" charset="-122"/>
                <a:cs typeface="Arial" pitchFamily="34" charset="-120"/>
              </a:rPr>
              <a:t>Expand the test set toward a hundred cases, with a second labeller on a sample</a:t>
            </a:r>
            <a:endParaRPr lang="en-US" sz="1400" dirty="0"/>
          </a:p>
        </p:txBody>
      </p:sp>
      <p:sp>
        <p:nvSpPr>
          <p:cNvPr id="14" name="Text 12"/>
          <p:cNvSpPr/>
          <p:nvPr/>
        </p:nvSpPr>
        <p:spPr>
          <a:xfrm>
            <a:off x="777240" y="5303520"/>
            <a:ext cx="457200" cy="365760"/>
          </a:xfrm>
          <a:prstGeom prst="rect">
            <a:avLst/>
          </a:prstGeom>
          <a:noFill/>
          <a:ln/>
        </p:spPr>
        <p:txBody>
          <a:bodyPr wrap="square" lIns="0" tIns="0" rIns="0" bIns="0" rtlCol="0" anchor="ctr"/>
          <a:lstStyle/>
          <a:p>
            <a:pPr indent="0" marL="0">
              <a:buNone/>
            </a:pPr>
            <a:r>
              <a:rPr lang="en-US" sz="1500" b="1" dirty="0">
                <a:solidFill>
                  <a:srgbClr val="A32A1F"/>
                </a:solidFill>
                <a:latin typeface="Courier New" pitchFamily="34" charset="0"/>
                <a:ea typeface="Courier New" pitchFamily="34" charset="-122"/>
                <a:cs typeface="Courier New" pitchFamily="34" charset="-120"/>
              </a:rPr>
              <a:t>6</a:t>
            </a:r>
            <a:endParaRPr lang="en-US" sz="1500" dirty="0"/>
          </a:p>
        </p:txBody>
      </p:sp>
      <p:sp>
        <p:nvSpPr>
          <p:cNvPr id="15" name="Text 13"/>
          <p:cNvSpPr/>
          <p:nvPr/>
        </p:nvSpPr>
        <p:spPr>
          <a:xfrm>
            <a:off x="1325880" y="5303520"/>
            <a:ext cx="10058400" cy="457200"/>
          </a:xfrm>
          <a:prstGeom prst="rect">
            <a:avLst/>
          </a:prstGeom>
          <a:noFill/>
          <a:ln/>
        </p:spPr>
        <p:txBody>
          <a:bodyPr wrap="square" lIns="0" tIns="0" rIns="0" bIns="0" rtlCol="0" anchor="ctr"/>
          <a:lstStyle/>
          <a:p>
            <a:pPr indent="0" marL="0">
              <a:buNone/>
            </a:pPr>
            <a:r>
              <a:rPr lang="en-US" sz="1400" dirty="0">
                <a:solidFill>
                  <a:srgbClr val="2A3639"/>
                </a:solidFill>
                <a:latin typeface="Arial" pitchFamily="34" charset="0"/>
                <a:ea typeface="Arial" pitchFamily="34" charset="-122"/>
                <a:cs typeface="Arial" pitchFamily="34" charset="-120"/>
              </a:rPr>
              <a:t>Add prompt injection cases, because a customer message is untrusted input</a:t>
            </a:r>
            <a:endParaRPr lang="en-US" sz="1400" dirty="0"/>
          </a:p>
        </p:txBody>
      </p:sp>
      <p:sp>
        <p:nvSpPr>
          <p:cNvPr id="16" name="Text 14"/>
          <p:cNvSpPr/>
          <p:nvPr/>
        </p:nvSpPr>
        <p:spPr>
          <a:xfrm>
            <a:off x="777240" y="5715000"/>
            <a:ext cx="10607040" cy="822960"/>
          </a:xfrm>
          <a:prstGeom prst="rect">
            <a:avLst/>
          </a:prstGeom>
          <a:noFill/>
          <a:ln/>
        </p:spPr>
        <p:txBody>
          <a:bodyPr wrap="square" lIns="0" tIns="0" rIns="0" bIns="0" rtlCol="0" anchor="ctr"/>
          <a:lstStyle/>
          <a:p>
            <a:pPr indent="0" marL="0">
              <a:buNone/>
            </a:pPr>
            <a:r>
              <a:rPr lang="en-US" sz="1200" dirty="0">
                <a:solidFill>
                  <a:srgbClr val="6B7671"/>
                </a:solidFill>
                <a:latin typeface="Arial" pitchFamily="34" charset="0"/>
                <a:ea typeface="Arial" pitchFamily="34" charset="-122"/>
                <a:cs typeface="Arial" pitchFamily="34" charset="-120"/>
              </a:rPr>
              <a:t>Five and six are the ones that would change the quality of the answer rather than its presentation. Thirty cases is enough to rule a vendor out and not enough to sign a contract, and untested prompt injection on a channel where strangers write the input is the largest open risk in this work.</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81A"/>
        </a:solidFill>
      </p:bgPr>
    </p:bg>
    <p:spTree>
      <p:nvGrpSpPr>
        <p:cNvPr id="1" name=""/>
        <p:cNvGrpSpPr/>
        <p:nvPr/>
      </p:nvGrpSpPr>
      <p:grpSpPr>
        <a:xfrm>
          <a:off x="0" y="0"/>
          <a:ext cx="0" cy="0"/>
          <a:chOff x="0" y="0"/>
          <a:chExt cx="0" cy="0"/>
        </a:xfrm>
      </p:grpSpPr>
      <p:sp>
        <p:nvSpPr>
          <p:cNvPr id="2" name="Text 0"/>
          <p:cNvSpPr/>
          <p:nvPr/>
        </p:nvSpPr>
        <p:spPr>
          <a:xfrm>
            <a:off x="777240" y="2286000"/>
            <a:ext cx="9601200" cy="1737360"/>
          </a:xfrm>
          <a:prstGeom prst="rect">
            <a:avLst/>
          </a:prstGeom>
          <a:noFill/>
          <a:ln/>
        </p:spPr>
        <p:txBody>
          <a:bodyPr wrap="square" lIns="0" tIns="0" rIns="0" bIns="0" rtlCol="0" anchor="ctr"/>
          <a:lstStyle/>
          <a:p>
            <a:pPr indent="0" marL="0">
              <a:lnSpc>
                <a:spcPts val="4000"/>
              </a:lnSpc>
              <a:buNone/>
            </a:pPr>
            <a:r>
              <a:rPr lang="en-US" sz="3000" b="1" dirty="0">
                <a:solidFill>
                  <a:srgbClr val="FFFFFF"/>
                </a:solidFill>
                <a:latin typeface="Arial" pitchFamily="34" charset="0"/>
                <a:ea typeface="Arial" pitchFamily="34" charset="-122"/>
                <a:cs typeface="Arial" pitchFamily="34" charset="-120"/>
              </a:rPr>
              <a:t>The recommendation is one line.</a:t>
            </a:r>
            <a:endParaRPr lang="en-US" sz="3000" dirty="0"/>
          </a:p>
          <a:p>
            <a:pPr indent="0" marL="0">
              <a:lnSpc>
                <a:spcPts val="4000"/>
              </a:lnSpc>
              <a:buNone/>
            </a:pPr>
            <a:r>
              <a:rPr lang="en-US" sz="3000" b="1" dirty="0">
                <a:solidFill>
                  <a:srgbClr val="FFFFFF"/>
                </a:solidFill>
                <a:latin typeface="Arial" pitchFamily="34" charset="0"/>
                <a:ea typeface="Arial" pitchFamily="34" charset="-122"/>
                <a:cs typeface="Arial" pitchFamily="34" charset="-120"/>
              </a:rPr>
              <a:t>The method is the deliverable.</a:t>
            </a:r>
            <a:endParaRPr lang="en-US" sz="3000" dirty="0"/>
          </a:p>
        </p:txBody>
      </p:sp>
      <p:sp>
        <p:nvSpPr>
          <p:cNvPr id="3" name="Text 1"/>
          <p:cNvSpPr/>
          <p:nvPr/>
        </p:nvSpPr>
        <p:spPr>
          <a:xfrm>
            <a:off x="777240" y="4297680"/>
            <a:ext cx="9601200" cy="457200"/>
          </a:xfrm>
          <a:prstGeom prst="rect">
            <a:avLst/>
          </a:prstGeom>
          <a:noFill/>
          <a:ln/>
        </p:spPr>
        <p:txBody>
          <a:bodyPr wrap="square" lIns="0" tIns="0" rIns="0" bIns="0" rtlCol="0" anchor="ctr"/>
          <a:lstStyle/>
          <a:p>
            <a:pPr indent="0" marL="0">
              <a:buNone/>
            </a:pPr>
            <a:r>
              <a:rPr lang="en-US" sz="1400" dirty="0">
                <a:solidFill>
                  <a:srgbClr val="9DAEA3"/>
                </a:solidFill>
                <a:latin typeface="Arial" pitchFamily="34" charset="0"/>
                <a:ea typeface="Arial" pitchFamily="34" charset="-122"/>
                <a:cs typeface="Arial" pitchFamily="34" charset="-120"/>
              </a:rPr>
              <a:t>Repo, dashboard, memo, methodology, and the full failure log are in the submission.</a:t>
            </a:r>
            <a:endParaRPr lang="en-US" sz="1400" dirty="0"/>
          </a:p>
        </p:txBody>
      </p:sp>
      <p:sp>
        <p:nvSpPr>
          <p:cNvPr id="4" name="Text 2"/>
          <p:cNvSpPr/>
          <p:nvPr/>
        </p:nvSpPr>
        <p:spPr>
          <a:xfrm>
            <a:off x="777240" y="5852160"/>
            <a:ext cx="7315200" cy="274320"/>
          </a:xfrm>
          <a:prstGeom prst="rect">
            <a:avLst/>
          </a:prstGeom>
          <a:noFill/>
          <a:ln/>
        </p:spPr>
        <p:txBody>
          <a:bodyPr wrap="square" lIns="0" tIns="0" rIns="0" bIns="0" rtlCol="0" anchor="ctr"/>
          <a:lstStyle/>
          <a:p>
            <a:pPr indent="0" marL="0">
              <a:buNone/>
            </a:pPr>
            <a:r>
              <a:rPr lang="en-US" sz="1000" dirty="0">
                <a:solidFill>
                  <a:srgbClr val="7E9089"/>
                </a:solidFill>
                <a:latin typeface="Courier New" pitchFamily="34" charset="0"/>
                <a:ea typeface="Courier New" pitchFamily="34" charset="-122"/>
                <a:cs typeface="Courier New" pitchFamily="34" charset="-120"/>
              </a:rPr>
              <a:t>Fatima Naseer   /   SafeX Solutions   /   Group 57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Which language model should answer our customers first</dc:title>
  <dc:subject>PptxGenJS Presentation</dc:subject>
  <dc:creator>Fatima Naseer</dc:creator>
  <cp:lastModifiedBy>Fatima Naseer</cp:lastModifiedBy>
  <cp:revision>1</cp:revision>
  <dcterms:created xsi:type="dcterms:W3CDTF">2026-08-09T14:06:25Z</dcterms:created>
  <dcterms:modified xsi:type="dcterms:W3CDTF">2026-08-09T14:06:25Z</dcterms:modified>
</cp:coreProperties>
</file>